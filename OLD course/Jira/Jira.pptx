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666_939EF54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699_22E09B8F.xml" ContentType="application/vnd.ms-powerpoint.comments+xml"/>
  <Override PartName="/ppt/notesSlides/notesSlide5.xml" ContentType="application/vnd.openxmlformats-officedocument.presentationml.notesSlide+xml"/>
  <Override PartName="/ppt/comments/modernComment_668_84E5FC04.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66B_BCA842B4.xml" ContentType="application/vnd.ms-powerpoint.comments+xml"/>
  <Override PartName="/ppt/notesSlides/notesSlide8.xml" ContentType="application/vnd.openxmlformats-officedocument.presentationml.notesSlide+xml"/>
  <Override PartName="/ppt/comments/modernComment_66C_94E71564.xml" ContentType="application/vnd.ms-powerpoint.comments+xml"/>
  <Override PartName="/ppt/notesSlides/notesSlide9.xml" ContentType="application/vnd.openxmlformats-officedocument.presentationml.notesSlide+xml"/>
  <Override PartName="/ppt/comments/modernComment_66D_F0F6316B.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670_6A4472F.xml" ContentType="application/vnd.ms-powerpoint.comments+xml"/>
  <Override PartName="/ppt/notesSlides/notesSlide12.xml" ContentType="application/vnd.openxmlformats-officedocument.presentationml.notesSlide+xml"/>
  <Override PartName="/ppt/comments/modernComment_671_FFE05198.xml" ContentType="application/vnd.ms-powerpoint.comments+xml"/>
  <Override PartName="/ppt/notesSlides/notesSlide13.xml" ContentType="application/vnd.openxmlformats-officedocument.presentationml.notesSlide+xml"/>
  <Override PartName="/ppt/comments/modernComment_672_8DCAC4E5.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68F_6B6D8B45.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692_6506616E.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695_D599900F.xml" ContentType="application/vnd.ms-powerpoint.comments+xml"/>
  <Override PartName="/ppt/notesSlides/notesSlide20.xml" ContentType="application/vnd.openxmlformats-officedocument.presentationml.notesSlide+xml"/>
  <Override PartName="/ppt/comments/modernComment_696_6893524.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1666" r:id="rId2"/>
    <p:sldId id="1667" r:id="rId3"/>
    <p:sldId id="1638" r:id="rId4"/>
    <p:sldId id="1639" r:id="rId5"/>
    <p:sldId id="1689" r:id="rId6"/>
    <p:sldId id="1640" r:id="rId7"/>
    <p:sldId id="1668" r:id="rId8"/>
    <p:sldId id="1669" r:id="rId9"/>
    <p:sldId id="1643" r:id="rId10"/>
    <p:sldId id="1644" r:id="rId11"/>
    <p:sldId id="1645" r:id="rId12"/>
    <p:sldId id="1670" r:id="rId13"/>
    <p:sldId id="1671" r:id="rId14"/>
    <p:sldId id="1648" r:id="rId15"/>
    <p:sldId id="1649" r:id="rId16"/>
    <p:sldId id="1650" r:id="rId17"/>
    <p:sldId id="1672" r:id="rId18"/>
    <p:sldId id="1673" r:id="rId19"/>
    <p:sldId id="1679" r:id="rId20"/>
    <p:sldId id="1680" r:id="rId21"/>
    <p:sldId id="1681" r:id="rId22"/>
    <p:sldId id="1682" r:id="rId23"/>
    <p:sldId id="1683" r:id="rId24"/>
    <p:sldId id="1684" r:id="rId25"/>
    <p:sldId id="1685" r:id="rId26"/>
    <p:sldId id="1686" r:id="rId27"/>
    <p:sldId id="16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9FFE64-C8C5-F5E4-A59C-36D78EDB7F01}" name="Catherine Dartnall" initials="CD" userId="S::catherine_teamoctopus.co.uk#ext#@qalearning.onmicrosoft.com::64bcb10f-6c4f-4f97-8fd9-b8177566dc6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eme Watson" userId="57772db6c52a2416" providerId="LiveId" clId="{79207A9F-42D0-407D-A62A-BF21112BD75C}"/>
    <pc:docChg chg="delSld">
      <pc:chgData name="Graeme Watson" userId="57772db6c52a2416" providerId="LiveId" clId="{79207A9F-42D0-407D-A62A-BF21112BD75C}" dt="2024-12-10T09:09:07.657" v="0" actId="2696"/>
      <pc:docMkLst>
        <pc:docMk/>
      </pc:docMkLst>
      <pc:sldChg chg="del">
        <pc:chgData name="Graeme Watson" userId="57772db6c52a2416" providerId="LiveId" clId="{79207A9F-42D0-407D-A62A-BF21112BD75C}" dt="2024-12-10T09:09:07.657" v="0" actId="2696"/>
        <pc:sldMkLst>
          <pc:docMk/>
          <pc:sldMk cId="1115023214" sldId="1687"/>
        </pc:sldMkLst>
      </pc:sldChg>
      <pc:sldMasterChg chg="delSldLayout">
        <pc:chgData name="Graeme Watson" userId="57772db6c52a2416" providerId="LiveId" clId="{79207A9F-42D0-407D-A62A-BF21112BD75C}" dt="2024-12-10T09:09:07.657" v="0" actId="2696"/>
        <pc:sldMasterMkLst>
          <pc:docMk/>
          <pc:sldMasterMk cId="3828175240" sldId="2147483648"/>
        </pc:sldMasterMkLst>
        <pc:sldLayoutChg chg="del">
          <pc:chgData name="Graeme Watson" userId="57772db6c52a2416" providerId="LiveId" clId="{79207A9F-42D0-407D-A62A-BF21112BD75C}" dt="2024-12-10T09:09:07.657" v="0" actId="2696"/>
          <pc:sldLayoutMkLst>
            <pc:docMk/>
            <pc:sldMasterMk cId="3828175240" sldId="2147483648"/>
            <pc:sldLayoutMk cId="1628106240" sldId="2147483663"/>
          </pc:sldLayoutMkLst>
        </pc:sldLayoutChg>
      </pc:sldMasterChg>
    </pc:docChg>
  </pc:docChgLst>
</pc:chgInfo>
</file>

<file path=ppt/comments/modernComment_66B_BCA842B4.xml><?xml version="1.0" encoding="utf-8"?>
<p188:cmLst xmlns:a="http://schemas.openxmlformats.org/drawingml/2006/main" xmlns:r="http://schemas.openxmlformats.org/officeDocument/2006/relationships" xmlns:p188="http://schemas.microsoft.com/office/powerpoint/2018/8/main">
  <p188:cm id="{D36AAC44-C062-4B7C-901F-74F68B366717}" authorId="{0A9FFE64-C8C5-F5E4-A59C-36D78EDB7F01}" created="2023-08-25T16:58:07.273">
    <ac:deMkLst xmlns:ac="http://schemas.microsoft.com/office/drawing/2013/main/command">
      <pc:docMk xmlns:pc="http://schemas.microsoft.com/office/powerpoint/2013/main/command"/>
      <pc:sldMk xmlns:pc="http://schemas.microsoft.com/office/powerpoint/2013/main/command" cId="3165143732" sldId="1643"/>
      <ac:picMk id="6" creationId="{EB5DE125-129B-94D8-E4FF-FC9864167BB2}"/>
    </ac:deMkLst>
    <p188:txBody>
      <a:bodyPr/>
      <a:lstStyle/>
      <a:p>
        <a:r>
          <a:rPr lang="en-GB"/>
          <a:t>Alt txt: Screen capture of Jira backlog showing 0 issues and the +Create issue button.</a:t>
        </a:r>
      </a:p>
    </p188:txBody>
  </p188:cm>
</p188:cmLst>
</file>

<file path=ppt/comments/modernComment_66C_94E71564.xml><?xml version="1.0" encoding="utf-8"?>
<p188:cmLst xmlns:a="http://schemas.openxmlformats.org/drawingml/2006/main" xmlns:r="http://schemas.openxmlformats.org/officeDocument/2006/relationships" xmlns:p188="http://schemas.microsoft.com/office/powerpoint/2018/8/main">
  <p188:cm id="{9BE76AAF-4BEF-47A0-9ADA-0692935DD114}" authorId="{0A9FFE64-C8C5-F5E4-A59C-36D78EDB7F01}" created="2023-08-25T16:59:35.557">
    <ac:deMkLst xmlns:ac="http://schemas.microsoft.com/office/drawing/2013/main/command">
      <pc:docMk xmlns:pc="http://schemas.microsoft.com/office/powerpoint/2013/main/command"/>
      <pc:sldMk xmlns:pc="http://schemas.microsoft.com/office/powerpoint/2013/main/command" cId="2498172260" sldId="1644"/>
      <ac:picMk id="5" creationId="{80519812-BFB2-F14E-560D-6074402C2DC6}"/>
    </ac:deMkLst>
    <p188:txBody>
      <a:bodyPr/>
      <a:lstStyle/>
      <a:p>
        <a:r>
          <a:rPr lang="en-GB"/>
          <a:t>Alt txt: Screen capture of Jira backlog showing the Story option active.</a:t>
        </a:r>
      </a:p>
    </p188:txBody>
  </p188:cm>
</p188:cmLst>
</file>

<file path=ppt/comments/modernComment_66D_F0F6316B.xml><?xml version="1.0" encoding="utf-8"?>
<p188:cmLst xmlns:a="http://schemas.openxmlformats.org/drawingml/2006/main" xmlns:r="http://schemas.openxmlformats.org/officeDocument/2006/relationships" xmlns:p188="http://schemas.microsoft.com/office/powerpoint/2018/8/main">
  <p188:cm id="{2A4ACB6A-8AD9-477F-9CEB-C507BE40E608}" authorId="{0A9FFE64-C8C5-F5E4-A59C-36D78EDB7F01}" created="2023-08-25T17:01:36.452">
    <ac:deMkLst xmlns:ac="http://schemas.microsoft.com/office/drawing/2013/main/command">
      <pc:docMk xmlns:pc="http://schemas.microsoft.com/office/powerpoint/2013/main/command"/>
      <pc:sldMk xmlns:pc="http://schemas.microsoft.com/office/powerpoint/2013/main/command" cId="4042666347" sldId="1645"/>
      <ac:picMk id="6" creationId="{C9DC711E-4754-195B-1830-364DDDD9C0E5}"/>
    </ac:deMkLst>
    <p188:txBody>
      <a:bodyPr/>
      <a:lstStyle/>
      <a:p>
        <a:r>
          <a:rPr lang="en-GB"/>
          <a:t>Alt txt: Screen capture of Jira Product Backlog showing the user story: As a customer, I would like to be able to reset my password, so that I can still login if I forget it. Underneath, a description is displayed which has been added for more context: Need to add a forgot password link to the login screen, that allows the users to reset their password. Could include an email for verification.</a:t>
        </a:r>
      </a:p>
    </p188:txBody>
  </p188:cm>
</p188:cmLst>
</file>

<file path=ppt/comments/modernComment_68F_6B6D8B45.xml><?xml version="1.0" encoding="utf-8"?>
<p188:cmLst xmlns:a="http://schemas.openxmlformats.org/drawingml/2006/main" xmlns:r="http://schemas.openxmlformats.org/officeDocument/2006/relationships" xmlns:p188="http://schemas.microsoft.com/office/powerpoint/2018/8/main">
  <p188:cm id="{F918E629-11BC-42B9-95CE-450218A222A4}" authorId="{0A9FFE64-C8C5-F5E4-A59C-36D78EDB7F01}" created="2023-08-31T14:04:06.265">
    <ac:deMkLst xmlns:ac="http://schemas.microsoft.com/office/drawing/2013/main/command">
      <pc:docMk xmlns:pc="http://schemas.microsoft.com/office/powerpoint/2013/main/command"/>
      <pc:sldMk xmlns:pc="http://schemas.microsoft.com/office/powerpoint/2013/main/command" cId="1802341189" sldId="1679"/>
      <ac:picMk id="5" creationId="{1856C968-D36B-FF43-9D85-6FD2F7FCD7DD}"/>
    </ac:deMkLst>
    <p188:txBody>
      <a:bodyPr/>
      <a:lstStyle/>
      <a:p>
        <a:r>
          <a:rPr lang="en-GB"/>
          <a:t>Alt txt: Screen capture of Jira issue screen showing where story point estimates can be added into a text box</a:t>
        </a:r>
      </a:p>
    </p188:txBody>
  </p188:cm>
</p188:cmLst>
</file>

<file path=ppt/comments/modernComment_666_939EF540.xml><?xml version="1.0" encoding="utf-8"?>
<p188:cmLst xmlns:a="http://schemas.openxmlformats.org/drawingml/2006/main" xmlns:r="http://schemas.openxmlformats.org/officeDocument/2006/relationships" xmlns:p188="http://schemas.microsoft.com/office/powerpoint/2018/8/main">
  <p188:cm id="{1D47724B-205C-48B8-86E1-F1801027B3C1}" authorId="{0A9FFE64-C8C5-F5E4-A59C-36D78EDB7F01}" created="2023-08-25T16:50:51.561">
    <ac:deMkLst xmlns:ac="http://schemas.microsoft.com/office/drawing/2013/main/command">
      <pc:docMk xmlns:pc="http://schemas.microsoft.com/office/powerpoint/2013/main/command"/>
      <pc:sldMk xmlns:pc="http://schemas.microsoft.com/office/powerpoint/2013/main/command" cId="2476668224" sldId="1638"/>
      <ac:picMk id="5" creationId="{9136F34E-CC3B-7EC5-583C-B6BFE0ECA779}"/>
    </ac:deMkLst>
    <p188:txBody>
      <a:bodyPr/>
      <a:lstStyle/>
      <a:p>
        <a:r>
          <a:rPr lang="en-GB"/>
          <a:t>Alt txt: Screen capture of Jira sign up screen showing site name and promotional opt in/out checkbox. Agree button at the bottom of screen.</a:t>
        </a:r>
      </a:p>
    </p188:txBody>
  </p188:cm>
</p188:cmLst>
</file>

<file path=ppt/comments/modernComment_668_84E5FC04.xml><?xml version="1.0" encoding="utf-8"?>
<p188:cmLst xmlns:a="http://schemas.openxmlformats.org/drawingml/2006/main" xmlns:r="http://schemas.openxmlformats.org/officeDocument/2006/relationships" xmlns:p188="http://schemas.microsoft.com/office/powerpoint/2018/8/main">
  <p188:cm id="{C49B4971-7975-4827-9388-18D038B7B074}" authorId="{0A9FFE64-C8C5-F5E4-A59C-36D78EDB7F01}" created="2023-08-25T16:54:32.889">
    <ac:deMkLst xmlns:ac="http://schemas.microsoft.com/office/drawing/2013/main/command">
      <pc:docMk xmlns:pc="http://schemas.microsoft.com/office/powerpoint/2013/main/command"/>
      <pc:sldMk xmlns:pc="http://schemas.microsoft.com/office/powerpoint/2013/main/command" cId="2229664772" sldId="1640"/>
      <ac:picMk id="5" creationId="{1D6C83B8-8FB3-096C-EB59-95AB5DE5DCDE}"/>
    </ac:deMkLst>
    <p188:txBody>
      <a:bodyPr/>
      <a:lstStyle/>
      <a:p>
        <a:r>
          <a:rPr lang="en-GB"/>
          <a:t>Alt txt: Screen capture showing the newly created Jira site that is ready to use. The Backlog is selected and is the focus on screen.</a:t>
        </a:r>
      </a:p>
    </p188:txBody>
  </p188:cm>
</p188:cmLst>
</file>

<file path=ppt/comments/modernComment_670_6A4472F.xml><?xml version="1.0" encoding="utf-8"?>
<p188:cmLst xmlns:a="http://schemas.openxmlformats.org/drawingml/2006/main" xmlns:r="http://schemas.openxmlformats.org/officeDocument/2006/relationships" xmlns:p188="http://schemas.microsoft.com/office/powerpoint/2018/8/main">
  <p188:cm id="{C43324CD-4667-42E6-94CF-1AB0F968B00E}" authorId="{0A9FFE64-C8C5-F5E4-A59C-36D78EDB7F01}" created="2023-08-25T17:02:20.234">
    <ac:deMkLst xmlns:ac="http://schemas.microsoft.com/office/drawing/2013/main/command">
      <pc:docMk xmlns:pc="http://schemas.microsoft.com/office/powerpoint/2013/main/command"/>
      <pc:sldMk xmlns:pc="http://schemas.microsoft.com/office/powerpoint/2013/main/command" cId="111429423" sldId="1648"/>
      <ac:picMk id="5" creationId="{CE68A220-A542-B45D-95A0-51E19EA66A75}"/>
    </ac:deMkLst>
    <p188:txBody>
      <a:bodyPr/>
      <a:lstStyle/>
      <a:p>
        <a:r>
          <a:rPr lang="en-GB"/>
          <a:t>Alt txt: Screen capture showing a Jira backlog with five issues listed.</a:t>
        </a:r>
      </a:p>
    </p188:txBody>
  </p188:cm>
</p188:cmLst>
</file>

<file path=ppt/comments/modernComment_671_FFE05198.xml><?xml version="1.0" encoding="utf-8"?>
<p188:cmLst xmlns:a="http://schemas.openxmlformats.org/drawingml/2006/main" xmlns:r="http://schemas.openxmlformats.org/officeDocument/2006/relationships" xmlns:p188="http://schemas.microsoft.com/office/powerpoint/2018/8/main">
  <p188:cm id="{40070C03-27CD-476C-9424-174FA9A608D5}" authorId="{0A9FFE64-C8C5-F5E4-A59C-36D78EDB7F01}" created="2023-08-25T17:03:23.783">
    <ac:deMkLst xmlns:ac="http://schemas.microsoft.com/office/drawing/2013/main/command">
      <pc:docMk xmlns:pc="http://schemas.microsoft.com/office/powerpoint/2013/main/command"/>
      <pc:sldMk xmlns:pc="http://schemas.microsoft.com/office/powerpoint/2013/main/command" cId="4292891032" sldId="1649"/>
      <ac:picMk id="6" creationId="{8245A24B-7561-76B3-899E-B49033C08932}"/>
    </ac:deMkLst>
    <p188:txBody>
      <a:bodyPr/>
      <a:lstStyle/>
      <a:p>
        <a:r>
          <a:rPr lang="en-GB"/>
          <a:t>Alt txt: Screen capture of Create issue screen in Jira.</a:t>
        </a:r>
      </a:p>
    </p188:txBody>
  </p188:cm>
</p188:cmLst>
</file>

<file path=ppt/comments/modernComment_672_8DCAC4E5.xml><?xml version="1.0" encoding="utf-8"?>
<p188:cmLst xmlns:a="http://schemas.openxmlformats.org/drawingml/2006/main" xmlns:r="http://schemas.openxmlformats.org/officeDocument/2006/relationships" xmlns:p188="http://schemas.microsoft.com/office/powerpoint/2018/8/main">
  <p188:cm id="{B1C84B56-E968-435C-BBE3-1E2F692C6E85}" authorId="{0A9FFE64-C8C5-F5E4-A59C-36D78EDB7F01}" created="2023-08-25T17:04:13.269">
    <ac:deMkLst xmlns:ac="http://schemas.microsoft.com/office/drawing/2013/main/command">
      <pc:docMk xmlns:pc="http://schemas.microsoft.com/office/powerpoint/2013/main/command"/>
      <pc:sldMk xmlns:pc="http://schemas.microsoft.com/office/powerpoint/2013/main/command" cId="2378876133" sldId="1650"/>
      <ac:picMk id="6" creationId="{F39E9E22-4A7A-CEF9-F58D-07CBCB1341FF}"/>
    </ac:deMkLst>
    <p188:txBody>
      <a:bodyPr/>
      <a:lstStyle/>
      <a:p>
        <a:r>
          <a:rPr lang="en-GB"/>
          <a:t>Alt txt: Screen capture showing a selected issue with Add epic selected so that a story can be added to it.</a:t>
        </a:r>
      </a:p>
    </p188:txBody>
  </p188:cm>
</p188:cmLst>
</file>

<file path=ppt/comments/modernComment_692_6506616E.xml><?xml version="1.0" encoding="utf-8"?>
<p188:cmLst xmlns:a="http://schemas.openxmlformats.org/drawingml/2006/main" xmlns:r="http://schemas.openxmlformats.org/officeDocument/2006/relationships" xmlns:p188="http://schemas.microsoft.com/office/powerpoint/2018/8/main">
  <p188:cm id="{6278A0A6-9314-4E07-A7B6-0258C829677F}" authorId="{0A9FFE64-C8C5-F5E4-A59C-36D78EDB7F01}" created="2023-08-25T17:07:56.416">
    <ac:deMkLst xmlns:ac="http://schemas.microsoft.com/office/drawing/2013/main/command">
      <pc:docMk xmlns:pc="http://schemas.microsoft.com/office/powerpoint/2013/main/command"/>
      <pc:sldMk xmlns:pc="http://schemas.microsoft.com/office/powerpoint/2013/main/command" cId="1694916974" sldId="1682"/>
      <ac:picMk id="6" creationId="{F4A6177C-EB87-6F95-868B-4DFBCBB37E3C}"/>
    </ac:deMkLst>
    <p188:txBody>
      <a:bodyPr/>
      <a:lstStyle/>
      <a:p>
        <a:r>
          <a:rPr lang="en-GB"/>
          <a:t>Alt txt: Screen capture showing how issues can be linked. An issue is selected and arrows highlight the Link issue button and the areas where information can be entered about other issues that this current issue is blocked by. The Link button is available in the bottom right of the screen.</a:t>
        </a:r>
      </a:p>
    </p188:txBody>
  </p188:cm>
</p188:cmLst>
</file>

<file path=ppt/comments/modernComment_695_D599900F.xml><?xml version="1.0" encoding="utf-8"?>
<p188:cmLst xmlns:a="http://schemas.openxmlformats.org/drawingml/2006/main" xmlns:r="http://schemas.openxmlformats.org/officeDocument/2006/relationships" xmlns:p188="http://schemas.microsoft.com/office/powerpoint/2018/8/main">
  <p188:cm id="{C16DB201-B4E9-498F-87F5-472165CDE731}" authorId="{0A9FFE64-C8C5-F5E4-A59C-36D78EDB7F01}" created="2023-08-25T17:08:52.122">
    <ac:deMkLst xmlns:ac="http://schemas.microsoft.com/office/drawing/2013/main/command">
      <pc:docMk xmlns:pc="http://schemas.microsoft.com/office/powerpoint/2013/main/command"/>
      <pc:sldMk xmlns:pc="http://schemas.microsoft.com/office/powerpoint/2013/main/command" cId="3583610895" sldId="1685"/>
      <ac:picMk id="5" creationId="{FF7AF074-052B-0C91-C0A3-DC3394F860E8}"/>
    </ac:deMkLst>
    <p188:txBody>
      <a:bodyPr/>
      <a:lstStyle/>
      <a:p>
        <a:r>
          <a:rPr lang="en-GB"/>
          <a:t>Alt txt: Screen capture showing a list of four issues in Jira. The final issue is highlighted At the top of the list of issues is a blue Create Sprint button.</a:t>
        </a:r>
      </a:p>
    </p188:txBody>
  </p188:cm>
</p188:cmLst>
</file>

<file path=ppt/comments/modernComment_696_6893524.xml><?xml version="1.0" encoding="utf-8"?>
<p188:cmLst xmlns:a="http://schemas.openxmlformats.org/drawingml/2006/main" xmlns:r="http://schemas.openxmlformats.org/officeDocument/2006/relationships" xmlns:p188="http://schemas.microsoft.com/office/powerpoint/2018/8/main">
  <p188:cm id="{6BEC39A3-6FD6-4EAE-8145-6E032C90A67F}" authorId="{0A9FFE64-C8C5-F5E4-A59C-36D78EDB7F01}" created="2023-08-25T17:09:51.390">
    <ac:deMkLst xmlns:ac="http://schemas.microsoft.com/office/drawing/2013/main/command">
      <pc:docMk xmlns:pc="http://schemas.microsoft.com/office/powerpoint/2013/main/command"/>
      <pc:sldMk xmlns:pc="http://schemas.microsoft.com/office/powerpoint/2013/main/command" cId="109655332" sldId="1686"/>
      <ac:picMk id="6" creationId="{F0DC64FD-E621-69F2-939A-DEA1CA5B52DB}"/>
    </ac:deMkLst>
    <p188:txBody>
      <a:bodyPr/>
      <a:lstStyle/>
      <a:p>
        <a:r>
          <a:rPr lang="en-GB"/>
          <a:t>Alt txt: Screen capture showing the available options for Start Sprint. These include: Sprint name, duration, start date, end date and sprint goal. The Start button is at the bottom of the screen.</a:t>
        </a:r>
      </a:p>
    </p188:txBody>
  </p188:cm>
</p188:cmLst>
</file>

<file path=ppt/comments/modernComment_699_22E09B8F.xml><?xml version="1.0" encoding="utf-8"?>
<p188:cmLst xmlns:a="http://schemas.openxmlformats.org/drawingml/2006/main" xmlns:r="http://schemas.openxmlformats.org/officeDocument/2006/relationships" xmlns:p188="http://schemas.microsoft.com/office/powerpoint/2018/8/main">
  <p188:cm id="{0240383B-7BF1-404C-8579-1E28F77FDE64}" authorId="{0A9FFE64-C8C5-F5E4-A59C-36D78EDB7F01}" created="2023-08-25T16:53:37.840">
    <ac:deMkLst xmlns:ac="http://schemas.microsoft.com/office/drawing/2013/main/command">
      <pc:docMk xmlns:pc="http://schemas.microsoft.com/office/powerpoint/2013/main/command"/>
      <pc:sldMk xmlns:pc="http://schemas.microsoft.com/office/powerpoint/2013/main/command" cId="585145231" sldId="1689"/>
      <ac:picMk id="6" creationId="{A7A8668B-C02F-29DF-A6A3-77A2AE81FBA0}"/>
    </ac:deMkLst>
    <p188:txBody>
      <a:bodyPr/>
      <a:lstStyle/>
      <a:p>
        <a:r>
          <a:rPr lang="en-GB"/>
          <a:t>Alt txt: Screen capture of Jira initial setup. This screen asks for the name and key of the project together with providing options for change template or type of project.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D05169-316F-43A6-B180-D5C2FE31C434}" type="datetimeFigureOut">
              <a:rPr lang="en-GB" smtClean="0"/>
              <a:t>10/12/2024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2907EA-E5EB-41AF-84DB-3B465BCAF3DC}" type="slidenum">
              <a:rPr lang="en-GB" smtClean="0"/>
              <a:t>‹#›</a:t>
            </a:fld>
            <a:endParaRPr lang="en-GB"/>
          </a:p>
        </p:txBody>
      </p:sp>
    </p:spTree>
    <p:extLst>
      <p:ext uri="{BB962C8B-B14F-4D97-AF65-F5344CB8AC3E}">
        <p14:creationId xmlns:p14="http://schemas.microsoft.com/office/powerpoint/2010/main" val="3257011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66242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117242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1689527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885611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1886988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sz="1600"/>
          </a:p>
        </p:txBody>
      </p:sp>
    </p:spTree>
    <p:extLst>
      <p:ext uri="{BB962C8B-B14F-4D97-AF65-F5344CB8AC3E}">
        <p14:creationId xmlns:p14="http://schemas.microsoft.com/office/powerpoint/2010/main" val="2673877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a:t>It’s always worth showing the learners the Project Settings &gt; Issue Types screen, because it contains lots of useful additions, such as “priority” which is a feature that can help us visualise our backlog item priorities, which is something discussed in a later section.</a:t>
            </a:r>
          </a:p>
        </p:txBody>
      </p:sp>
    </p:spTree>
    <p:extLst>
      <p:ext uri="{BB962C8B-B14F-4D97-AF65-F5344CB8AC3E}">
        <p14:creationId xmlns:p14="http://schemas.microsoft.com/office/powerpoint/2010/main" val="212589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738285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3589505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br>
              <a:rPr lang="en-US" sz="1600"/>
            </a:br>
            <a:br>
              <a:rPr lang="en-US" sz="1600"/>
            </a:br>
            <a:endParaRPr lang="en-US" sz="1600"/>
          </a:p>
        </p:txBody>
      </p:sp>
    </p:spTree>
    <p:extLst>
      <p:ext uri="{BB962C8B-B14F-4D97-AF65-F5344CB8AC3E}">
        <p14:creationId xmlns:p14="http://schemas.microsoft.com/office/powerpoint/2010/main" val="1680316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1270321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2692519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823747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sz="1600"/>
          </a:p>
        </p:txBody>
      </p:sp>
    </p:spTree>
    <p:extLst>
      <p:ext uri="{BB962C8B-B14F-4D97-AF65-F5344CB8AC3E}">
        <p14:creationId xmlns:p14="http://schemas.microsoft.com/office/powerpoint/2010/main" val="2756413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3301346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br>
              <a:rPr lang="en-US" sz="1600"/>
            </a:br>
            <a:br>
              <a:rPr lang="en-US" sz="1600"/>
            </a:br>
            <a:endParaRPr lang="en-US" sz="1600"/>
          </a:p>
        </p:txBody>
      </p:sp>
    </p:spTree>
    <p:extLst>
      <p:ext uri="{BB962C8B-B14F-4D97-AF65-F5344CB8AC3E}">
        <p14:creationId xmlns:p14="http://schemas.microsoft.com/office/powerpoint/2010/main" val="881768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a:t>You can also select the nature of the linked relationship. Options for this include:</a:t>
            </a:r>
          </a:p>
          <a:p>
            <a:endParaRPr lang="en-GB" sz="1600"/>
          </a:p>
          <a:p>
            <a:pPr marL="285750" indent="-285750">
              <a:buFont typeface="Arial" panose="020B0604020202020204" pitchFamily="34" charset="0"/>
              <a:buChar char="•"/>
            </a:pPr>
            <a:r>
              <a:rPr lang="en-GB" sz="1600"/>
              <a:t>is blocked by</a:t>
            </a:r>
          </a:p>
          <a:p>
            <a:pPr marL="285750" indent="-285750">
              <a:buFont typeface="Arial" panose="020B0604020202020204" pitchFamily="34" charset="0"/>
              <a:buChar char="•"/>
            </a:pPr>
            <a:r>
              <a:rPr lang="en-GB" sz="1600"/>
              <a:t>blocks</a:t>
            </a:r>
          </a:p>
          <a:p>
            <a:pPr marL="285750" indent="-285750">
              <a:buFont typeface="Arial" panose="020B0604020202020204" pitchFamily="34" charset="0"/>
              <a:buChar char="•"/>
            </a:pPr>
            <a:r>
              <a:rPr lang="en-GB" sz="1600"/>
              <a:t>is cloned by</a:t>
            </a:r>
          </a:p>
          <a:p>
            <a:pPr marL="285750" indent="-285750">
              <a:buFont typeface="Arial" panose="020B0604020202020204" pitchFamily="34" charset="0"/>
              <a:buChar char="•"/>
            </a:pPr>
            <a:r>
              <a:rPr lang="en-GB" sz="1600"/>
              <a:t>clones</a:t>
            </a:r>
          </a:p>
          <a:p>
            <a:pPr marL="285750" indent="-285750">
              <a:buFont typeface="Arial" panose="020B0604020202020204" pitchFamily="34" charset="0"/>
              <a:buChar char="•"/>
            </a:pPr>
            <a:r>
              <a:rPr lang="en-GB" sz="1600"/>
              <a:t>is duplicated by</a:t>
            </a:r>
          </a:p>
          <a:p>
            <a:pPr marL="285750" indent="-285750">
              <a:buFont typeface="Arial" panose="020B0604020202020204" pitchFamily="34" charset="0"/>
              <a:buChar char="•"/>
            </a:pPr>
            <a:r>
              <a:rPr lang="en-GB" sz="1600"/>
              <a:t>duplicates</a:t>
            </a:r>
          </a:p>
          <a:p>
            <a:pPr marL="285750" indent="-285750">
              <a:buFont typeface="Arial" panose="020B0604020202020204" pitchFamily="34" charset="0"/>
              <a:buChar char="•"/>
            </a:pPr>
            <a:r>
              <a:rPr lang="en-GB" sz="1600"/>
              <a:t>relates</a:t>
            </a:r>
          </a:p>
        </p:txBody>
      </p:sp>
    </p:spTree>
    <p:extLst>
      <p:ext uri="{BB962C8B-B14F-4D97-AF65-F5344CB8AC3E}">
        <p14:creationId xmlns:p14="http://schemas.microsoft.com/office/powerpoint/2010/main" val="2514810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sz="1600"/>
          </a:p>
        </p:txBody>
      </p:sp>
    </p:spTree>
    <p:extLst>
      <p:ext uri="{BB962C8B-B14F-4D97-AF65-F5344CB8AC3E}">
        <p14:creationId xmlns:p14="http://schemas.microsoft.com/office/powerpoint/2010/main" val="3047820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sz="1600"/>
          </a:p>
        </p:txBody>
      </p:sp>
    </p:spTree>
    <p:extLst>
      <p:ext uri="{BB962C8B-B14F-4D97-AF65-F5344CB8AC3E}">
        <p14:creationId xmlns:p14="http://schemas.microsoft.com/office/powerpoint/2010/main" val="822959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GB" sz="1600"/>
              <a:t>You can then move more items from your </a:t>
            </a:r>
            <a:r>
              <a:rPr lang="en-GB" sz="1600" b="1"/>
              <a:t>Product Backlog</a:t>
            </a:r>
            <a:r>
              <a:rPr lang="en-GB" sz="1600"/>
              <a:t> into your </a:t>
            </a:r>
            <a:r>
              <a:rPr lang="en-GB" sz="1600" b="1"/>
              <a:t>Sprint Backlog</a:t>
            </a:r>
            <a:r>
              <a:rPr lang="en-GB" sz="1600"/>
              <a:t>!</a:t>
            </a:r>
          </a:p>
          <a:p>
            <a:endParaRPr lang="en-GB" sz="1600"/>
          </a:p>
          <a:p>
            <a:r>
              <a:rPr lang="en-GB" sz="1600"/>
              <a:t>Similarly, you can navigate to the </a:t>
            </a:r>
            <a:r>
              <a:rPr lang="en-GB" sz="1600" b="1"/>
              <a:t>Board</a:t>
            </a:r>
            <a:r>
              <a:rPr lang="en-GB" sz="1600"/>
              <a:t> to see the Sprint in a more traditional Kanban format.</a:t>
            </a:r>
          </a:p>
          <a:p>
            <a:endParaRPr lang="en-GB" sz="1600"/>
          </a:p>
          <a:p>
            <a:r>
              <a:rPr lang="en-GB" sz="1600"/>
              <a:t>Once all issues are inside the </a:t>
            </a:r>
            <a:r>
              <a:rPr lang="en-GB" sz="1600" b="1"/>
              <a:t>Sprint Backlog </a:t>
            </a:r>
            <a:r>
              <a:rPr lang="en-GB" sz="1600"/>
              <a:t>click </a:t>
            </a:r>
            <a:r>
              <a:rPr lang="en-GB" sz="1600" b="1"/>
              <a:t>Start Sprint</a:t>
            </a:r>
            <a:r>
              <a:rPr lang="en-GB" sz="1600"/>
              <a:t>.</a:t>
            </a:r>
          </a:p>
          <a:p>
            <a:endParaRPr lang="en-GB" sz="1600"/>
          </a:p>
          <a:p>
            <a:r>
              <a:rPr lang="en-GB" sz="1600"/>
              <a:t>As the team finishes their Sprint, you can choose to </a:t>
            </a:r>
            <a:r>
              <a:rPr lang="en-GB" sz="1600" b="1"/>
              <a:t>Complete Sprint</a:t>
            </a:r>
            <a:r>
              <a:rPr lang="en-GB" sz="1600"/>
              <a:t>, a button for which is located at the top right of the backlog.</a:t>
            </a:r>
          </a:p>
          <a:p>
            <a:endParaRPr lang="en-GB" sz="1600"/>
          </a:p>
          <a:p>
            <a:r>
              <a:rPr lang="en-GB" sz="1600"/>
              <a:t>Clicking this will present a pop-up summarising the Sprint and giving you the option of moving open items into the backlog or into a new sprint.</a:t>
            </a:r>
          </a:p>
        </p:txBody>
      </p:sp>
    </p:spTree>
    <p:extLst>
      <p:ext uri="{BB962C8B-B14F-4D97-AF65-F5344CB8AC3E}">
        <p14:creationId xmlns:p14="http://schemas.microsoft.com/office/powerpoint/2010/main" val="1336140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9B34-0E9A-1228-DDE7-FAE4943429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6BEA85B-E943-98C2-6FC8-70D1E9C331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B514FC0-EB85-39E2-A6E2-50BB6CFF41CD}"/>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2F492909-3800-B4EA-5A38-BBF0A5EADA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1B683F0-0E9F-0553-0108-09EFB1966520}"/>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3657280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29C0D-75CD-6EB3-4E6F-D4F0047D055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E65E15-EA3C-AC99-7FC3-31874230F0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34954F-799D-19BC-A67E-0E61AC86A580}"/>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49FABA12-FB0E-3E05-3A2E-21979028B2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0CC18DE-C9AE-F32C-CC0E-7109C0A3D518}"/>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305131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322C-4639-0D7A-CF91-2D10B120FD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B0A0FC0-F062-F05B-8A33-C758458E79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7EA53F-65E0-2510-AAC6-485B17DE929B}"/>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A252FB62-BE60-C070-083E-024293836A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E05B8C-9A0C-12CA-109F-BA4B4394B585}"/>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1984120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A0AC-4791-078A-73CB-96164D6E1B2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F86F54-452C-A201-D206-FDB6E49F5D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BEC4A6A-9E51-9D30-F0E8-2D860371BB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880B681-0590-0811-F6AD-4ECAB39DEB7F}"/>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6" name="Footer Placeholder 5">
            <a:extLst>
              <a:ext uri="{FF2B5EF4-FFF2-40B4-BE49-F238E27FC236}">
                <a16:creationId xmlns:a16="http://schemas.microsoft.com/office/drawing/2014/main" id="{BFF2EFF0-CC4F-2F18-AFE5-42438BEE1E6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66DD747-BDF6-652A-48D3-2BF0B376ADC1}"/>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2158914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8AE2-9D7F-CAD7-6F40-434E52B9EEC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A98CC82-603E-55E5-8A39-105870D988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05E51-9C2F-0C45-3C62-A58C4539C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5BB0A70-AD38-9970-8F7C-0AF4E65D5A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5207DF-DB1F-3AD7-9348-5D8580D88A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3C0B840-1EA4-0098-CDF0-A917682A2981}"/>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8" name="Footer Placeholder 7">
            <a:extLst>
              <a:ext uri="{FF2B5EF4-FFF2-40B4-BE49-F238E27FC236}">
                <a16:creationId xmlns:a16="http://schemas.microsoft.com/office/drawing/2014/main" id="{4F65FAB4-5F18-2820-962F-A04B5E6D028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EA9472B-9D0F-8D7A-E3C0-6871992874E1}"/>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2422193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A2EE-7CB7-5205-0F44-005E3E7F51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AD27FD7-7A11-0AD5-D590-39586CF509B5}"/>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4" name="Footer Placeholder 3">
            <a:extLst>
              <a:ext uri="{FF2B5EF4-FFF2-40B4-BE49-F238E27FC236}">
                <a16:creationId xmlns:a16="http://schemas.microsoft.com/office/drawing/2014/main" id="{756FD9B7-C7B6-0FD0-4DA5-69D55B7769B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6086DF-7396-9603-24DE-B993B69A48D1}"/>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2519194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4E6DE0-6B65-4730-F73D-1F86EE6D20B9}"/>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3" name="Footer Placeholder 2">
            <a:extLst>
              <a:ext uri="{FF2B5EF4-FFF2-40B4-BE49-F238E27FC236}">
                <a16:creationId xmlns:a16="http://schemas.microsoft.com/office/drawing/2014/main" id="{C85239E5-A822-7EEB-4E47-422D312A3CC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CF40B3-AA5F-B7C8-0573-FADB3A960F3F}"/>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2205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2526-38E3-30B0-4AF7-5A2F394B37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B827D90-3751-EA9C-9159-8B6F1E1F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72CD91-D880-3FE0-CE60-B3141DDB66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1C0D68-B5A2-6C1A-DD17-B33C32576FC0}"/>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6" name="Footer Placeholder 5">
            <a:extLst>
              <a:ext uri="{FF2B5EF4-FFF2-40B4-BE49-F238E27FC236}">
                <a16:creationId xmlns:a16="http://schemas.microsoft.com/office/drawing/2014/main" id="{696FE12C-F7FD-92EB-FB23-B99E605DA91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B1AB9FD-9300-2BAF-99CD-37753548561D}"/>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186089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92126-A941-D57C-EF67-F2879731A2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0FBF025-388B-8874-D9F7-0B3ADC71AF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43DA782-9371-B55E-A12E-1FC294900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46E43A-C721-C38E-C64F-A90A66F0BC37}"/>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6" name="Footer Placeholder 5">
            <a:extLst>
              <a:ext uri="{FF2B5EF4-FFF2-40B4-BE49-F238E27FC236}">
                <a16:creationId xmlns:a16="http://schemas.microsoft.com/office/drawing/2014/main" id="{1ED00745-5898-4A42-FB88-6C70134202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CEF337-C59D-C211-2941-AF92765CEDA6}"/>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765762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46BD-8330-FBA7-F53F-E282C09975C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1E7C184-60D4-427B-CA58-7BA356B5CA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4ED722-82D8-6A00-89DE-CA0609C15614}"/>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8DB9C459-DCAC-101D-89AA-B2845926DE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136FC4-76D2-C78F-26BE-D4532B0017F0}"/>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395785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8573D-8F53-E642-808B-8685278DAC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CD9FE7A-2809-D2CB-F1AB-AF62665DD4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56E6F6-BA21-2424-DF74-E7890A71E600}"/>
              </a:ext>
            </a:extLst>
          </p:cNvPr>
          <p:cNvSpPr>
            <a:spLocks noGrp="1"/>
          </p:cNvSpPr>
          <p:nvPr>
            <p:ph type="dt" sz="half" idx="10"/>
          </p:nvPr>
        </p:nvSpPr>
        <p:spPr/>
        <p:txBody>
          <a:body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D322823C-19DD-8EE0-4111-42D5936A3C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8CE369-0DB0-770E-F8B4-0E0905D38ECF}"/>
              </a:ext>
            </a:extLst>
          </p:cNvPr>
          <p:cNvSpPr>
            <a:spLocks noGrp="1"/>
          </p:cNvSpPr>
          <p:nvPr>
            <p:ph type="sldNum" sz="quarter" idx="12"/>
          </p:nvPr>
        </p:nvSpPr>
        <p:spPr/>
        <p:txBody>
          <a:bodyPr/>
          <a:lstStyle/>
          <a:p>
            <a:fld id="{56D746E9-9DE7-4490-B187-A381D6C476E4}" type="slidenum">
              <a:rPr lang="en-GB" smtClean="0"/>
              <a:t>‹#›</a:t>
            </a:fld>
            <a:endParaRPr lang="en-GB"/>
          </a:p>
        </p:txBody>
      </p:sp>
    </p:spTree>
    <p:extLst>
      <p:ext uri="{BB962C8B-B14F-4D97-AF65-F5344CB8AC3E}">
        <p14:creationId xmlns:p14="http://schemas.microsoft.com/office/powerpoint/2010/main" val="1451273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a:t>CLICK TO EDIT TITLE</a:t>
            </a:r>
            <a:endParaRPr lang="en-GB" noProof="0"/>
          </a:p>
        </p:txBody>
      </p:sp>
    </p:spTree>
    <p:extLst>
      <p:ext uri="{BB962C8B-B14F-4D97-AF65-F5344CB8AC3E}">
        <p14:creationId xmlns:p14="http://schemas.microsoft.com/office/powerpoint/2010/main" val="3296652540"/>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8457598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a:t>CLICK TO EDIT TITLE</a:t>
            </a:r>
            <a:endParaRPr lang="en-GB" noProof="0"/>
          </a:p>
        </p:txBody>
      </p:sp>
    </p:spTree>
    <p:extLst>
      <p:ext uri="{BB962C8B-B14F-4D97-AF65-F5344CB8AC3E}">
        <p14:creationId xmlns:p14="http://schemas.microsoft.com/office/powerpoint/2010/main" val="369601348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a:t>THANK YOU</a:t>
            </a:r>
            <a:endParaRPr lang="en-GB" noProof="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760345837"/>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E60396-09CA-ECED-9CAA-D74D17AFE6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800C0C-66C8-57EB-183A-17321A389E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30BDED6-83E8-8B02-40F9-5FB334A770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05B3E-B37F-4875-BBE7-230160618413}" type="datetimeFigureOut">
              <a:rPr lang="en-GB" smtClean="0"/>
              <a:t>10/12/2024</a:t>
            </a:fld>
            <a:endParaRPr lang="en-GB"/>
          </a:p>
        </p:txBody>
      </p:sp>
      <p:sp>
        <p:nvSpPr>
          <p:cNvPr id="5" name="Footer Placeholder 4">
            <a:extLst>
              <a:ext uri="{FF2B5EF4-FFF2-40B4-BE49-F238E27FC236}">
                <a16:creationId xmlns:a16="http://schemas.microsoft.com/office/drawing/2014/main" id="{5F2C92D0-15BF-27CF-CA6B-DC62BC5635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AE927B1-E83B-517B-8F3A-CB800CD2EF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D746E9-9DE7-4490-B187-A381D6C476E4}" type="slidenum">
              <a:rPr lang="en-GB" smtClean="0"/>
              <a:t>‹#›</a:t>
            </a:fld>
            <a:endParaRPr lang="en-GB"/>
          </a:p>
        </p:txBody>
      </p:sp>
    </p:spTree>
    <p:extLst>
      <p:ext uri="{BB962C8B-B14F-4D97-AF65-F5344CB8AC3E}">
        <p14:creationId xmlns:p14="http://schemas.microsoft.com/office/powerpoint/2010/main" val="3828175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microsoft.com/office/2018/10/relationships/comments" Target="../comments/modernComment_666_939EF540.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atlassian.com/try/cloud/signup?bundle=jira-software&amp;edition=fre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699_22E09B8F.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18/10/relationships/comments" Target="../comments/modernComment_668_84E5FC04.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microsoft.com/office/2018/10/relationships/comments" Target="../comments/modernComment_66B_BCA842B4.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66C_94E71564.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66D_F0F6316B.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670_6A4472F.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671_FFE05198.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672_8DCAC4E5.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68F_6B6D8B45.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692_6506616E.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695_D599900F.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696_6893524.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85300" y="3429000"/>
            <a:ext cx="3807876" cy="578738"/>
          </a:xfrm>
        </p:spPr>
        <p:txBody>
          <a:bodyPr/>
          <a:lstStyle/>
          <a:p>
            <a:r>
              <a:rPr lang="en-US"/>
              <a:t>Using Atlassian Jira</a:t>
            </a:r>
            <a:endParaRPr lang="en-IN"/>
          </a:p>
        </p:txBody>
      </p:sp>
    </p:spTree>
    <p:extLst>
      <p:ext uri="{BB962C8B-B14F-4D97-AF65-F5344CB8AC3E}">
        <p14:creationId xmlns:p14="http://schemas.microsoft.com/office/powerpoint/2010/main" val="309954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84784" y="1349984"/>
            <a:ext cx="3443732" cy="546910"/>
          </a:xfrm>
        </p:spPr>
        <p:txBody>
          <a:bodyPr>
            <a:normAutofit lnSpcReduction="10000"/>
          </a:bodyPr>
          <a:lstStyle/>
          <a:p>
            <a:r>
              <a:rPr lang="en-GB"/>
              <a:t>OVERVIEW</a:t>
            </a:r>
            <a:endParaRPr lang="en-IN"/>
          </a:p>
        </p:txBody>
      </p:sp>
      <p:sp>
        <p:nvSpPr>
          <p:cNvPr id="7" name="Text Placeholder 2">
            <a:extLst>
              <a:ext uri="{FF2B5EF4-FFF2-40B4-BE49-F238E27FC236}">
                <a16:creationId xmlns:a16="http://schemas.microsoft.com/office/drawing/2014/main" id="{5E3A4915-04C0-5EB8-EDF6-8DBD35D603AC}"/>
              </a:ext>
            </a:extLst>
          </p:cNvPr>
          <p:cNvSpPr>
            <a:spLocks noGrp="1"/>
          </p:cNvSpPr>
          <p:nvPr>
            <p:ph type="body" sz="quarter" idx="15"/>
          </p:nvPr>
        </p:nvSpPr>
        <p:spPr>
          <a:xfrm>
            <a:off x="4694734" y="970975"/>
            <a:ext cx="7337503" cy="4548982"/>
          </a:xfrm>
        </p:spPr>
        <p:txBody>
          <a:bodyPr vert="horz" lIns="0" tIns="0" rIns="0" bIns="0" rtlCol="0" anchor="t" anchorCtr="0">
            <a:noAutofit/>
          </a:bodyPr>
          <a:lstStyle/>
          <a:p>
            <a:r>
              <a:rPr lang="en-GB" b="1"/>
              <a:t>Jira</a:t>
            </a:r>
            <a:r>
              <a:rPr lang="en-GB"/>
              <a:t> is one of the leading technologies in agile project management. It is one of the most popular project management and issue tracking software tools. </a:t>
            </a:r>
          </a:p>
          <a:p>
            <a:endParaRPr lang="en-GB"/>
          </a:p>
          <a:p>
            <a:r>
              <a:rPr lang="en-GB"/>
              <a:t>It enables teams to plan, track, and manage tasks, projects, and software development workflows. </a:t>
            </a:r>
          </a:p>
          <a:p>
            <a:endParaRPr lang="en-GB"/>
          </a:p>
          <a:p>
            <a:r>
              <a:rPr lang="en-GB"/>
              <a:t>Jira provides a centralised platform for collaboration, task assignment, progress monitoring, and issue resolution.</a:t>
            </a:r>
          </a:p>
          <a:p>
            <a:endParaRPr lang="en-GB"/>
          </a:p>
          <a:p>
            <a:r>
              <a:rPr lang="en-GB"/>
              <a:t>With it, it is easy to create </a:t>
            </a:r>
            <a:r>
              <a:rPr lang="en-GB" b="1"/>
              <a:t>product backlog items</a:t>
            </a:r>
            <a:r>
              <a:rPr lang="en-GB"/>
              <a:t>, create a </a:t>
            </a:r>
            <a:r>
              <a:rPr lang="en-GB" b="1"/>
              <a:t>sprint</a:t>
            </a:r>
            <a:r>
              <a:rPr lang="en-GB"/>
              <a:t>, look at </a:t>
            </a:r>
            <a:r>
              <a:rPr lang="en-GB" b="1"/>
              <a:t>burndown charts</a:t>
            </a:r>
            <a:r>
              <a:rPr lang="en-GB"/>
              <a:t>, amongst other things.</a:t>
            </a:r>
          </a:p>
        </p:txBody>
      </p:sp>
    </p:spTree>
    <p:extLst>
      <p:ext uri="{BB962C8B-B14F-4D97-AF65-F5344CB8AC3E}">
        <p14:creationId xmlns:p14="http://schemas.microsoft.com/office/powerpoint/2010/main" val="181732543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latin typeface="Krana Fat B"/>
              </a:rPr>
              <a:t>Atlassian Jira – Getting started</a:t>
            </a:r>
            <a:endParaRPr lang="en-GB"/>
          </a:p>
        </p:txBody>
      </p:sp>
      <p:sp>
        <p:nvSpPr>
          <p:cNvPr id="3" name="Content Placeholder 2"/>
          <p:cNvSpPr>
            <a:spLocks noGrp="1"/>
          </p:cNvSpPr>
          <p:nvPr>
            <p:ph idx="1"/>
          </p:nvPr>
        </p:nvSpPr>
        <p:spPr>
          <a:xfrm>
            <a:off x="560696" y="1016908"/>
            <a:ext cx="11070607" cy="5773979"/>
          </a:xfrm>
        </p:spPr>
        <p:txBody>
          <a:bodyPr vert="horz" lIns="0" tIns="0" rIns="0" bIns="0" rtlCol="0" anchor="t" anchorCtr="0">
            <a:noAutofit/>
          </a:bodyPr>
          <a:lstStyle/>
          <a:p>
            <a:r>
              <a:rPr lang="en-GB" sz="1400" i="0">
                <a:effectLst/>
                <a:latin typeface="Montserrat"/>
              </a:rPr>
              <a:t>You will need to sign up here: </a:t>
            </a:r>
            <a:r>
              <a:rPr lang="en-GB" sz="1400" i="0">
                <a:effectLst/>
                <a:latin typeface="Montserrat"/>
                <a:hlinkClick r:id="rId4"/>
              </a:rPr>
              <a:t>https://www.atlassian.com/try/cloud/signup?bundle=jira-software&amp;edition=free</a:t>
            </a:r>
            <a:r>
              <a:rPr lang="en-GB" sz="1400" i="0">
                <a:effectLst/>
                <a:latin typeface="Montserrat"/>
              </a:rPr>
              <a:t>. Jira is free for up to 10 collaborators.</a:t>
            </a:r>
          </a:p>
          <a:p>
            <a:endParaRPr lang="en-GB" sz="1400" i="0">
              <a:effectLst/>
              <a:latin typeface="Montserrat" panose="00000500000000000000" pitchFamily="2" charset="0"/>
            </a:endParaRPr>
          </a:p>
          <a:p>
            <a:r>
              <a:rPr lang="en-GB" sz="1400" i="0">
                <a:effectLst/>
                <a:latin typeface="Montserrat"/>
              </a:rPr>
              <a:t>Follow </a:t>
            </a:r>
            <a:r>
              <a:rPr lang="en-GB" sz="1400">
                <a:latin typeface="Montserrat"/>
              </a:rPr>
              <a:t>these steps to</a:t>
            </a:r>
            <a:r>
              <a:rPr lang="en-GB" sz="1400" i="0">
                <a:effectLst/>
                <a:latin typeface="Montserrat"/>
              </a:rPr>
              <a:t> sign up and use Jira:</a:t>
            </a:r>
          </a:p>
          <a:p>
            <a:endParaRPr lang="en-GB" sz="1400" i="0">
              <a:effectLst/>
              <a:latin typeface="Montserrat" panose="00000500000000000000" pitchFamily="2" charset="0"/>
            </a:endParaRPr>
          </a:p>
          <a:p>
            <a:pPr marL="457200" indent="-457200">
              <a:buFont typeface="+mj-lt"/>
              <a:buAutoNum type="arabicPeriod"/>
            </a:pPr>
            <a:r>
              <a:rPr lang="en-GB" sz="1400" i="0">
                <a:effectLst/>
                <a:latin typeface="Montserrat" panose="00000500000000000000" pitchFamily="2" charset="0"/>
              </a:rPr>
              <a:t>Sign up to Jira. You may get some questions asking you about yourself, what sector you work in, etc. Feel free to skip these.</a:t>
            </a:r>
          </a:p>
          <a:p>
            <a:pPr marL="457200" indent="-457200">
              <a:buFont typeface="+mj-lt"/>
              <a:buAutoNum type="arabicPeriod"/>
            </a:pPr>
            <a:endParaRPr lang="en-GB" sz="1400" i="0">
              <a:effectLst/>
              <a:latin typeface="Montserrat" panose="00000500000000000000" pitchFamily="2" charset="0"/>
            </a:endParaRPr>
          </a:p>
          <a:p>
            <a:pPr marL="457200" indent="-457200">
              <a:buFont typeface="+mj-lt"/>
              <a:buAutoNum type="arabicPeriod"/>
            </a:pPr>
            <a:r>
              <a:rPr lang="en-GB" sz="1400" i="0">
                <a:effectLst/>
                <a:latin typeface="Montserrat"/>
              </a:rPr>
              <a:t>Create your Atlassian site. Multiple are allowed per account, so don't be concerned if you need to restart or create a new site.</a:t>
            </a:r>
          </a:p>
          <a:p>
            <a:pPr marL="457200" indent="-457200">
              <a:buFont typeface="+mj-lt"/>
              <a:buAutoNum type="arabicPeriod"/>
            </a:pPr>
            <a:endParaRPr lang="en-GB" sz="1400">
              <a:latin typeface="Montserrat" panose="00000500000000000000" pitchFamily="2" charset="0"/>
            </a:endParaRPr>
          </a:p>
          <a:p>
            <a:endParaRPr lang="en-GB" sz="1400" i="0">
              <a:effectLst/>
              <a:latin typeface="Montserrat" panose="00000500000000000000" pitchFamily="2" charset="0"/>
            </a:endParaRPr>
          </a:p>
        </p:txBody>
      </p:sp>
      <p:pic>
        <p:nvPicPr>
          <p:cNvPr id="5" name="Picture 4" descr="A screenshot of a chat&#10;&#10;Description automatically generated">
            <a:extLst>
              <a:ext uri="{FF2B5EF4-FFF2-40B4-BE49-F238E27FC236}">
                <a16:creationId xmlns:a16="http://schemas.microsoft.com/office/drawing/2014/main" id="{9136F34E-CC3B-7EC5-583C-B6BFE0ECA779}"/>
              </a:ext>
            </a:extLst>
          </p:cNvPr>
          <p:cNvPicPr>
            <a:picLocks noChangeAspect="1"/>
          </p:cNvPicPr>
          <p:nvPr/>
        </p:nvPicPr>
        <p:blipFill>
          <a:blip r:embed="rId5"/>
          <a:stretch>
            <a:fillRect/>
          </a:stretch>
        </p:blipFill>
        <p:spPr>
          <a:xfrm>
            <a:off x="3905511" y="3649211"/>
            <a:ext cx="4380975" cy="3057787"/>
          </a:xfrm>
          <a:prstGeom prst="rect">
            <a:avLst/>
          </a:prstGeom>
        </p:spPr>
      </p:pic>
    </p:spTree>
    <p:extLst>
      <p:ext uri="{BB962C8B-B14F-4D97-AF65-F5344CB8AC3E}">
        <p14:creationId xmlns:p14="http://schemas.microsoft.com/office/powerpoint/2010/main" val="247666822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latin typeface="Krana Fat B"/>
              </a:rPr>
              <a:t>Atlassian Jira – Getting started</a:t>
            </a:r>
            <a:endParaRPr lang="en-GB"/>
          </a:p>
        </p:txBody>
      </p:sp>
      <p:sp>
        <p:nvSpPr>
          <p:cNvPr id="3" name="Content Placeholder 2"/>
          <p:cNvSpPr>
            <a:spLocks noGrp="1"/>
          </p:cNvSpPr>
          <p:nvPr>
            <p:ph idx="1"/>
          </p:nvPr>
        </p:nvSpPr>
        <p:spPr>
          <a:xfrm>
            <a:off x="333433" y="1805645"/>
            <a:ext cx="11070607" cy="5841092"/>
          </a:xfrm>
        </p:spPr>
        <p:txBody>
          <a:bodyPr vert="horz" lIns="0" tIns="0" rIns="0" bIns="0" rtlCol="0" anchor="t" anchorCtr="0">
            <a:noAutofit/>
          </a:bodyPr>
          <a:lstStyle/>
          <a:p>
            <a:pPr marL="342900" indent="-342900">
              <a:buFont typeface="+mj-lt"/>
              <a:buAutoNum type="arabicPeriod" startAt="3"/>
            </a:pPr>
            <a:r>
              <a:rPr lang="en-GB" sz="1400" i="0">
                <a:effectLst/>
                <a:latin typeface="Montserrat" panose="00000500000000000000" pitchFamily="2" charset="0"/>
              </a:rPr>
              <a:t>Skip the marketing questions!</a:t>
            </a:r>
          </a:p>
          <a:p>
            <a:pPr marL="342900" indent="-342900">
              <a:buFont typeface="+mj-lt"/>
              <a:buAutoNum type="arabicPeriod" startAt="3"/>
            </a:pPr>
            <a:r>
              <a:rPr lang="en-GB" sz="1400" i="0">
                <a:effectLst/>
                <a:latin typeface="Montserrat" panose="00000500000000000000" pitchFamily="2" charset="0"/>
              </a:rPr>
              <a:t>Atlassian will then set up your </a:t>
            </a:r>
            <a:r>
              <a:rPr lang="en-GB" sz="1400" i="0" err="1">
                <a:effectLst/>
                <a:latin typeface="Montserrat" panose="00000500000000000000" pitchFamily="2" charset="0"/>
              </a:rPr>
              <a:t>jira</a:t>
            </a:r>
            <a:r>
              <a:rPr lang="en-GB" sz="1400" i="0">
                <a:effectLst/>
                <a:latin typeface="Montserrat" panose="00000500000000000000" pitchFamily="2" charset="0"/>
              </a:rPr>
              <a:t> site - give it some time to do so.</a:t>
            </a:r>
          </a:p>
          <a:p>
            <a:pPr marL="342900" indent="-342900">
              <a:buFont typeface="+mj-lt"/>
              <a:buAutoNum type="arabicPeriod" startAt="3"/>
            </a:pPr>
            <a:r>
              <a:rPr lang="en-GB" sz="1400" i="0">
                <a:effectLst/>
                <a:latin typeface="Montserrat" panose="00000500000000000000" pitchFamily="2" charset="0"/>
              </a:rPr>
              <a:t>Skip the marketing questions again!</a:t>
            </a:r>
          </a:p>
          <a:p>
            <a:pPr marL="342900" indent="-342900">
              <a:buFont typeface="+mj-lt"/>
              <a:buAutoNum type="arabicPeriod" startAt="3"/>
            </a:pPr>
            <a:r>
              <a:rPr lang="en-GB" sz="1400" i="0">
                <a:effectLst/>
                <a:latin typeface="Montserrat" panose="00000500000000000000" pitchFamily="2" charset="0"/>
              </a:rPr>
              <a:t>Jira will ask what template would you like to create. For this set of steps, choose Scrum Template and Team-Managed Type.</a:t>
            </a:r>
          </a:p>
          <a:p>
            <a:pPr marL="342900" indent="-342900">
              <a:buFont typeface="+mj-lt"/>
              <a:buAutoNum type="arabicPeriod" startAt="3"/>
            </a:pPr>
            <a:r>
              <a:rPr lang="en-GB" sz="1400" i="0">
                <a:effectLst/>
                <a:latin typeface="Montserrat" panose="00000500000000000000" pitchFamily="2" charset="0"/>
              </a:rPr>
              <a:t>Give the project a name and a key. (for reference, the key is a simpler way of referring to the project and will prefix the issues created within it, so make it descriptive and related).</a:t>
            </a: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i="0">
              <a:effectLst/>
              <a:latin typeface="Montserrat" panose="00000500000000000000" pitchFamily="2" charset="0"/>
            </a:endParaRPr>
          </a:p>
        </p:txBody>
      </p:sp>
    </p:spTree>
    <p:extLst>
      <p:ext uri="{BB962C8B-B14F-4D97-AF65-F5344CB8AC3E}">
        <p14:creationId xmlns:p14="http://schemas.microsoft.com/office/powerpoint/2010/main" val="1586112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latin typeface="Krana Fat B"/>
              </a:rPr>
              <a:t>Atlassian Jira – Getting started</a:t>
            </a:r>
            <a:endParaRPr lang="en-GB"/>
          </a:p>
        </p:txBody>
      </p:sp>
      <p:sp>
        <p:nvSpPr>
          <p:cNvPr id="3" name="Content Placeholder 2"/>
          <p:cNvSpPr>
            <a:spLocks noGrp="1"/>
          </p:cNvSpPr>
          <p:nvPr>
            <p:ph idx="1"/>
          </p:nvPr>
        </p:nvSpPr>
        <p:spPr>
          <a:xfrm>
            <a:off x="373538" y="749540"/>
            <a:ext cx="11070607" cy="5841092"/>
          </a:xfrm>
        </p:spPr>
        <p:txBody>
          <a:bodyPr vert="horz" lIns="0" tIns="0" rIns="0" bIns="0" rtlCol="0" anchor="t" anchorCtr="0">
            <a:noAutofit/>
          </a:bodyPr>
          <a:lstStyle/>
          <a:p>
            <a:pPr marL="342900" indent="-342900">
              <a:buFont typeface="+mj-lt"/>
              <a:buAutoNum type="arabicPeriod" startAt="3"/>
            </a:pPr>
            <a:endParaRPr lang="en-GB" sz="1400" i="0">
              <a:effectLst/>
              <a:latin typeface="Montserrat" panose="00000500000000000000" pitchFamily="2" charset="0"/>
            </a:endParaRPr>
          </a:p>
          <a:p>
            <a:r>
              <a:rPr lang="en-GB" sz="1400" b="1" i="0">
                <a:effectLst/>
                <a:latin typeface="Montserrat"/>
              </a:rPr>
              <a:t>Once you have completed these steps, you should have something similar to </a:t>
            </a:r>
            <a:r>
              <a:rPr lang="en-GB" sz="1400" b="1">
                <a:latin typeface="Montserrat"/>
              </a:rPr>
              <a:t>this:</a:t>
            </a:r>
            <a:endParaRPr lang="en-GB" sz="1400" b="1" i="0">
              <a:effectLst/>
              <a:latin typeface="Montserrat"/>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endParaRPr lang="en-GB" sz="1400" b="1">
              <a:latin typeface="Montserrat" panose="00000500000000000000" pitchFamily="2" charset="0"/>
            </a:endParaRPr>
          </a:p>
          <a:p>
            <a:endParaRPr lang="en-GB" sz="1400" b="1" i="0">
              <a:effectLst/>
              <a:latin typeface="Montserrat" panose="00000500000000000000" pitchFamily="2" charset="0"/>
            </a:endParaRPr>
          </a:p>
          <a:p>
            <a:endParaRPr lang="en-GB" sz="1400" b="1">
              <a:latin typeface="Montserrat" panose="00000500000000000000" pitchFamily="2" charset="0"/>
            </a:endParaRPr>
          </a:p>
          <a:p>
            <a:pPr marL="342900" indent="-342900">
              <a:buFont typeface="+mj-lt"/>
              <a:buAutoNum type="arabicPeriod" startAt="8"/>
            </a:pPr>
            <a:endParaRPr lang="en-GB" sz="1400">
              <a:latin typeface="Montserrat"/>
            </a:endParaRPr>
          </a:p>
          <a:p>
            <a:pPr marL="342900" indent="-342900">
              <a:buSzPct val="114999"/>
              <a:buAutoNum type="arabicPeriod" startAt="8"/>
            </a:pPr>
            <a:endParaRPr lang="en-GB" sz="1400">
              <a:latin typeface="Montserrat"/>
            </a:endParaRPr>
          </a:p>
          <a:p>
            <a:pPr marL="342900" indent="-342900">
              <a:buSzPct val="114999"/>
              <a:buAutoNum type="arabicPeriod" startAt="8"/>
            </a:pPr>
            <a:endParaRPr lang="en-GB" sz="1400">
              <a:latin typeface="Montserrat"/>
            </a:endParaRPr>
          </a:p>
          <a:p>
            <a:pPr marL="342900" indent="-342900">
              <a:buSzPct val="114999"/>
              <a:buAutoNum type="arabicPeriod" startAt="8"/>
            </a:pPr>
            <a:endParaRPr lang="en-GB" sz="1400">
              <a:latin typeface="Montserrat"/>
            </a:endParaRPr>
          </a:p>
          <a:p>
            <a:pPr marL="342900" indent="-342900">
              <a:buSzPct val="114999"/>
              <a:buAutoNum type="arabicPeriod" startAt="8"/>
            </a:pPr>
            <a:r>
              <a:rPr lang="en-GB" sz="1400" i="0">
                <a:effectLst/>
                <a:latin typeface="Montserrat"/>
              </a:rPr>
              <a:t>Click </a:t>
            </a:r>
            <a:r>
              <a:rPr lang="en-GB" sz="1400" b="1" i="0">
                <a:effectLst/>
                <a:latin typeface="Montserrat"/>
              </a:rPr>
              <a:t>Create Project</a:t>
            </a:r>
            <a:r>
              <a:rPr lang="en-GB" sz="1400" i="0">
                <a:effectLst/>
                <a:latin typeface="Montserrat"/>
              </a:rPr>
              <a:t>. Skip any further options if they appear. If asked to add teammates, simply </a:t>
            </a:r>
            <a:r>
              <a:rPr lang="en-GB" sz="1400">
                <a:latin typeface="Montserrat"/>
              </a:rPr>
              <a:t>select the</a:t>
            </a:r>
            <a:r>
              <a:rPr lang="en-GB" sz="1400" i="0">
                <a:effectLst/>
                <a:latin typeface="Montserrat"/>
              </a:rPr>
              <a:t> </a:t>
            </a:r>
            <a:r>
              <a:rPr lang="en-GB" sz="1400" b="1" i="0">
                <a:effectLst/>
                <a:latin typeface="Montserrat"/>
              </a:rPr>
              <a:t>Done </a:t>
            </a:r>
            <a:r>
              <a:rPr lang="en-GB" sz="1400" i="0">
                <a:effectLst/>
                <a:latin typeface="Montserrat"/>
              </a:rPr>
              <a:t>button without filling in the fields.</a:t>
            </a:r>
            <a:endParaRPr lang="en-GB">
              <a:latin typeface="Montserrat"/>
            </a:endParaRPr>
          </a:p>
        </p:txBody>
      </p:sp>
      <p:pic>
        <p:nvPicPr>
          <p:cNvPr id="6" name="Picture 5" descr="A screenshot of a computer&#10;&#10;Description automatically generated">
            <a:extLst>
              <a:ext uri="{FF2B5EF4-FFF2-40B4-BE49-F238E27FC236}">
                <a16:creationId xmlns:a16="http://schemas.microsoft.com/office/drawing/2014/main" id="{A7A8668B-C02F-29DF-A6A3-77A2AE81FBA0}"/>
              </a:ext>
            </a:extLst>
          </p:cNvPr>
          <p:cNvPicPr>
            <a:picLocks noChangeAspect="1"/>
          </p:cNvPicPr>
          <p:nvPr/>
        </p:nvPicPr>
        <p:blipFill rotWithShape="1">
          <a:blip r:embed="rId4"/>
          <a:srcRect t="5452" b="2934"/>
          <a:stretch/>
        </p:blipFill>
        <p:spPr>
          <a:xfrm>
            <a:off x="331935" y="1923065"/>
            <a:ext cx="6753271" cy="3011649"/>
          </a:xfrm>
          <a:prstGeom prst="rect">
            <a:avLst/>
          </a:prstGeom>
        </p:spPr>
      </p:pic>
    </p:spTree>
    <p:extLst>
      <p:ext uri="{BB962C8B-B14F-4D97-AF65-F5344CB8AC3E}">
        <p14:creationId xmlns:p14="http://schemas.microsoft.com/office/powerpoint/2010/main" val="58514523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latin typeface="Krana Fat B"/>
              </a:rPr>
              <a:t>Atlassian Jira – Getting started</a:t>
            </a:r>
            <a:endParaRPr lang="en-GB"/>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endParaRPr lang="en-GB" sz="1400" i="0">
              <a:effectLst/>
              <a:latin typeface="Montserrat" panose="00000500000000000000" pitchFamily="2" charset="0"/>
            </a:endParaRPr>
          </a:p>
          <a:p>
            <a:r>
              <a:rPr lang="en-GB" sz="1400" i="0">
                <a:effectLst/>
                <a:latin typeface="Montserrat" panose="00000500000000000000" pitchFamily="2" charset="0"/>
              </a:rPr>
              <a:t>Once finished, you should now have a Jira site ready to use!</a:t>
            </a:r>
          </a:p>
          <a:p>
            <a:endParaRPr lang="en-GB" sz="1400">
              <a:latin typeface="Montserrat" panose="00000500000000000000" pitchFamily="2" charset="0"/>
            </a:endParaRPr>
          </a:p>
          <a:p>
            <a:endParaRPr lang="en-GB" sz="1400" i="0">
              <a:effectLst/>
              <a:latin typeface="Montserrat" panose="00000500000000000000" pitchFamily="2" charset="0"/>
            </a:endParaRPr>
          </a:p>
        </p:txBody>
      </p:sp>
      <p:pic>
        <p:nvPicPr>
          <p:cNvPr id="5" name="Picture 4" descr="A screenshot of a computer&#10;&#10;Description automatically generated">
            <a:extLst>
              <a:ext uri="{FF2B5EF4-FFF2-40B4-BE49-F238E27FC236}">
                <a16:creationId xmlns:a16="http://schemas.microsoft.com/office/drawing/2014/main" id="{1D6C83B8-8FB3-096C-EB59-95AB5DE5DCDE}"/>
              </a:ext>
            </a:extLst>
          </p:cNvPr>
          <p:cNvPicPr>
            <a:picLocks noChangeAspect="1"/>
          </p:cNvPicPr>
          <p:nvPr/>
        </p:nvPicPr>
        <p:blipFill>
          <a:blip r:embed="rId4"/>
          <a:stretch>
            <a:fillRect/>
          </a:stretch>
        </p:blipFill>
        <p:spPr>
          <a:xfrm>
            <a:off x="-1" y="1938001"/>
            <a:ext cx="12192000" cy="3971898"/>
          </a:xfrm>
          <a:prstGeom prst="rect">
            <a:avLst/>
          </a:prstGeom>
        </p:spPr>
      </p:pic>
    </p:spTree>
    <p:extLst>
      <p:ext uri="{BB962C8B-B14F-4D97-AF65-F5344CB8AC3E}">
        <p14:creationId xmlns:p14="http://schemas.microsoft.com/office/powerpoint/2010/main" val="222966477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p:txBody>
          <a:bodyPr/>
          <a:lstStyle/>
          <a:p>
            <a:endParaRPr lang="en-IN"/>
          </a:p>
        </p:txBody>
      </p:sp>
      <p:sp>
        <p:nvSpPr>
          <p:cNvPr id="4" name="Title 3"/>
          <p:cNvSpPr>
            <a:spLocks noGrp="1"/>
          </p:cNvSpPr>
          <p:nvPr>
            <p:ph type="ctrTitle"/>
          </p:nvPr>
        </p:nvSpPr>
        <p:spPr>
          <a:xfrm>
            <a:off x="284632" y="3347724"/>
            <a:ext cx="3534471" cy="682670"/>
          </a:xfrm>
        </p:spPr>
        <p:txBody>
          <a:bodyPr/>
          <a:lstStyle/>
          <a:p>
            <a:r>
              <a:rPr lang="en-GB"/>
              <a:t>Adding to the Product Backlog</a:t>
            </a:r>
            <a:endParaRPr lang="en-IN"/>
          </a:p>
        </p:txBody>
      </p:sp>
    </p:spTree>
    <p:extLst>
      <p:ext uri="{BB962C8B-B14F-4D97-AF65-F5344CB8AC3E}">
        <p14:creationId xmlns:p14="http://schemas.microsoft.com/office/powerpoint/2010/main" val="2305023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OVERVIEW</a:t>
            </a:r>
            <a:endParaRPr lang="en-IN"/>
          </a:p>
        </p:txBody>
      </p:sp>
      <p:sp>
        <p:nvSpPr>
          <p:cNvPr id="6" name="Text Placeholder 4">
            <a:extLst>
              <a:ext uri="{FF2B5EF4-FFF2-40B4-BE49-F238E27FC236}">
                <a16:creationId xmlns:a16="http://schemas.microsoft.com/office/drawing/2014/main" id="{BCA98C97-8642-5518-5F11-24F8D38E6172}"/>
              </a:ext>
            </a:extLst>
          </p:cNvPr>
          <p:cNvSpPr>
            <a:spLocks noGrp="1"/>
          </p:cNvSpPr>
          <p:nvPr>
            <p:ph type="body" sz="quarter" idx="15"/>
          </p:nvPr>
        </p:nvSpPr>
        <p:spPr>
          <a:xfrm>
            <a:off x="4735068" y="1535190"/>
            <a:ext cx="7256835" cy="3179424"/>
          </a:xfrm>
        </p:spPr>
        <p:txBody>
          <a:bodyPr vert="horz" lIns="0" tIns="0" rIns="0" bIns="0" rtlCol="0" anchor="t" anchorCtr="0">
            <a:noAutofit/>
          </a:bodyPr>
          <a:lstStyle/>
          <a:p>
            <a:r>
              <a:rPr lang="en-GB" b="0" i="0">
                <a:effectLst/>
                <a:latin typeface="Montserrat"/>
              </a:rPr>
              <a:t>A core feature of Jira is issue</a:t>
            </a:r>
            <a:r>
              <a:rPr lang="en-GB">
                <a:latin typeface="Montserrat"/>
              </a:rPr>
              <a:t> —</a:t>
            </a:r>
            <a:r>
              <a:rPr lang="en-GB" b="0" i="0">
                <a:effectLst/>
                <a:latin typeface="Montserrat"/>
              </a:rPr>
              <a:t> or ticket</a:t>
            </a:r>
            <a:r>
              <a:rPr lang="en-GB">
                <a:latin typeface="Montserrat"/>
              </a:rPr>
              <a:t> —</a:t>
            </a:r>
            <a:r>
              <a:rPr lang="en-GB" b="0" i="0">
                <a:effectLst/>
                <a:latin typeface="Montserrat"/>
              </a:rPr>
              <a:t> management.</a:t>
            </a:r>
          </a:p>
          <a:p>
            <a:pPr algn="l"/>
            <a:endParaRPr lang="en-GB">
              <a:latin typeface="Montserrat" panose="00000500000000000000" pitchFamily="2" charset="0"/>
            </a:endParaRPr>
          </a:p>
          <a:p>
            <a:pPr algn="l"/>
            <a:r>
              <a:rPr lang="en-GB" b="0" i="0">
                <a:effectLst/>
                <a:latin typeface="Montserrat" panose="00000500000000000000" pitchFamily="2" charset="0"/>
              </a:rPr>
              <a:t>These issues are simply </a:t>
            </a:r>
            <a:r>
              <a:rPr lang="en-GB" b="1" i="0">
                <a:effectLst/>
                <a:latin typeface="Montserrat" panose="00000500000000000000" pitchFamily="2" charset="0"/>
              </a:rPr>
              <a:t>backlog items</a:t>
            </a:r>
            <a:r>
              <a:rPr lang="en-GB" b="0" i="0">
                <a:effectLst/>
                <a:latin typeface="Montserrat" panose="00000500000000000000" pitchFamily="2" charset="0"/>
              </a:rPr>
              <a:t> in Agile development, initially for the </a:t>
            </a:r>
            <a:r>
              <a:rPr lang="en-GB" b="1" i="0">
                <a:effectLst/>
                <a:latin typeface="Montserrat" panose="00000500000000000000" pitchFamily="2" charset="0"/>
              </a:rPr>
              <a:t>product backlog</a:t>
            </a:r>
            <a:r>
              <a:rPr lang="en-GB" b="0" i="0">
                <a:effectLst/>
                <a:latin typeface="Montserrat" panose="00000500000000000000" pitchFamily="2" charset="0"/>
              </a:rPr>
              <a:t>, and later pulled into the </a:t>
            </a:r>
            <a:r>
              <a:rPr lang="en-GB" b="1" i="0">
                <a:effectLst/>
                <a:latin typeface="Montserrat" panose="00000500000000000000" pitchFamily="2" charset="0"/>
              </a:rPr>
              <a:t>sprint backlog</a:t>
            </a:r>
            <a:r>
              <a:rPr lang="en-GB" b="0" i="0">
                <a:effectLst/>
                <a:latin typeface="Montserrat" panose="00000500000000000000" pitchFamily="2" charset="0"/>
              </a:rPr>
              <a:t>.</a:t>
            </a:r>
          </a:p>
          <a:p>
            <a:pPr algn="l"/>
            <a:endParaRPr lang="en-GB" b="0" i="0">
              <a:effectLst/>
              <a:latin typeface="Montserrat" panose="00000500000000000000" pitchFamily="2" charset="0"/>
            </a:endParaRPr>
          </a:p>
          <a:p>
            <a:r>
              <a:rPr lang="en-GB" b="0" i="0">
                <a:effectLst/>
                <a:latin typeface="Montserrat"/>
              </a:rPr>
              <a:t>This </a:t>
            </a:r>
            <a:r>
              <a:rPr lang="en-GB">
                <a:latin typeface="Montserrat"/>
              </a:rPr>
              <a:t>section will</a:t>
            </a:r>
            <a:r>
              <a:rPr lang="en-GB" b="0" i="0">
                <a:effectLst/>
                <a:latin typeface="Montserrat"/>
              </a:rPr>
              <a:t> discuss how to add items to a product backlog in Jira.</a:t>
            </a:r>
            <a:endParaRPr lang="en-IN" b="1">
              <a:latin typeface="Montserrat"/>
            </a:endParaRPr>
          </a:p>
        </p:txBody>
      </p:sp>
    </p:spTree>
    <p:extLst>
      <p:ext uri="{BB962C8B-B14F-4D97-AF65-F5344CB8AC3E}">
        <p14:creationId xmlns:p14="http://schemas.microsoft.com/office/powerpoint/2010/main" val="290587433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Adding to the Product Backlog</a:t>
            </a:r>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r>
              <a:rPr lang="en-GB" sz="1600">
                <a:effectLst/>
                <a:latin typeface="Montserrat" panose="00000500000000000000" pitchFamily="2" charset="0"/>
              </a:rPr>
              <a:t>To add items to a product backlog in Jira, navigate to the home screen.</a:t>
            </a:r>
          </a:p>
          <a:p>
            <a:endParaRPr lang="en-GB" sz="1600">
              <a:effectLst/>
              <a:latin typeface="Montserrat" panose="00000500000000000000" pitchFamily="2" charset="0"/>
            </a:endParaRPr>
          </a:p>
          <a:p>
            <a:r>
              <a:rPr lang="en-GB" sz="1600">
                <a:latin typeface="Montserrat"/>
              </a:rPr>
              <a:t>Select the</a:t>
            </a:r>
            <a:r>
              <a:rPr lang="en-GB" sz="1600">
                <a:effectLst/>
                <a:latin typeface="Montserrat"/>
              </a:rPr>
              <a:t> </a:t>
            </a:r>
            <a:r>
              <a:rPr lang="en-GB" sz="1600" b="1">
                <a:effectLst/>
                <a:latin typeface="Montserrat"/>
              </a:rPr>
              <a:t>Backlog</a:t>
            </a:r>
            <a:r>
              <a:rPr lang="en-GB" sz="1600">
                <a:effectLst/>
                <a:latin typeface="Montserrat"/>
              </a:rPr>
              <a:t> button to take you to an empty backlog page. At the bottom of the page under </a:t>
            </a:r>
            <a:r>
              <a:rPr lang="en-GB" sz="1600" b="1">
                <a:effectLst/>
                <a:latin typeface="Montserrat"/>
              </a:rPr>
              <a:t>Backlog</a:t>
            </a:r>
            <a:r>
              <a:rPr lang="en-GB" sz="1600">
                <a:effectLst/>
                <a:latin typeface="Montserrat"/>
              </a:rPr>
              <a:t>, </a:t>
            </a:r>
            <a:r>
              <a:rPr lang="en-GB" sz="1600">
                <a:latin typeface="Montserrat"/>
              </a:rPr>
              <a:t>select the</a:t>
            </a:r>
            <a:r>
              <a:rPr lang="en-GB" sz="1600">
                <a:effectLst/>
                <a:latin typeface="Montserrat"/>
              </a:rPr>
              <a:t> </a:t>
            </a:r>
            <a:r>
              <a:rPr lang="en-GB" sz="1600" b="1">
                <a:effectLst/>
                <a:latin typeface="Montserrat"/>
              </a:rPr>
              <a:t>"+ Create issue" button.</a:t>
            </a:r>
          </a:p>
          <a:p>
            <a:endParaRPr lang="en-GB" sz="1600" b="1">
              <a:latin typeface="Montserrat" panose="00000500000000000000" pitchFamily="2" charset="0"/>
            </a:endParaRPr>
          </a:p>
          <a:p>
            <a:endParaRPr lang="en-GB" sz="1600" b="1">
              <a:latin typeface="Montserrat" panose="00000500000000000000" pitchFamily="2" charset="0"/>
            </a:endParaRPr>
          </a:p>
          <a:p>
            <a:endParaRPr lang="en-GB" sz="1600" b="1">
              <a:latin typeface="Montserrat" panose="00000500000000000000" pitchFamily="2" charset="0"/>
            </a:endParaRPr>
          </a:p>
          <a:p>
            <a:endParaRPr lang="en-GB" sz="1600" b="1">
              <a:latin typeface="Montserrat" panose="00000500000000000000" pitchFamily="2" charset="0"/>
            </a:endParaRPr>
          </a:p>
          <a:p>
            <a:endParaRPr lang="en-GB" sz="1600" b="1">
              <a:latin typeface="Montserrat" panose="00000500000000000000" pitchFamily="2" charset="0"/>
            </a:endParaRPr>
          </a:p>
          <a:p>
            <a:endParaRPr lang="en-GB" sz="1600">
              <a:latin typeface="Montserrat" panose="00000500000000000000" pitchFamily="2" charset="0"/>
            </a:endParaRPr>
          </a:p>
          <a:p>
            <a:r>
              <a:rPr lang="en-GB" sz="1600">
                <a:latin typeface="Montserrat"/>
              </a:rPr>
              <a:t>Once selected, it should be replaced with a text box asking, "What needs to be done?" and a drop-down box.</a:t>
            </a:r>
          </a:p>
          <a:p>
            <a:endParaRPr lang="en-GB" sz="1600">
              <a:latin typeface="Montserrat" panose="00000500000000000000" pitchFamily="2" charset="0"/>
            </a:endParaRPr>
          </a:p>
          <a:p>
            <a:r>
              <a:rPr lang="en-GB" sz="1600">
                <a:latin typeface="Montserrat"/>
              </a:rPr>
              <a:t>Selecting the drop-down box first, you will be presented with several options, including </a:t>
            </a:r>
            <a:r>
              <a:rPr lang="en-GB" sz="1600" b="1">
                <a:latin typeface="Montserrat"/>
              </a:rPr>
              <a:t>Task</a:t>
            </a:r>
            <a:r>
              <a:rPr lang="en-GB" sz="1600">
                <a:latin typeface="Montserrat"/>
              </a:rPr>
              <a:t> (blue), </a:t>
            </a:r>
            <a:r>
              <a:rPr lang="en-GB" sz="1600" b="1">
                <a:latin typeface="Montserrat"/>
              </a:rPr>
              <a:t>Story</a:t>
            </a:r>
            <a:r>
              <a:rPr lang="en-GB" sz="1600">
                <a:latin typeface="Montserrat"/>
              </a:rPr>
              <a:t> (green), and </a:t>
            </a:r>
            <a:r>
              <a:rPr lang="en-GB" sz="1600" b="1">
                <a:latin typeface="Montserrat"/>
              </a:rPr>
              <a:t>Bug</a:t>
            </a:r>
            <a:r>
              <a:rPr lang="en-GB" sz="1600">
                <a:latin typeface="Montserrat"/>
              </a:rPr>
              <a:t> (red).</a:t>
            </a:r>
          </a:p>
          <a:p>
            <a:endParaRPr lang="en-GB" sz="1600">
              <a:latin typeface="Montserrat" panose="00000500000000000000" pitchFamily="2" charset="0"/>
            </a:endParaRPr>
          </a:p>
          <a:p>
            <a:r>
              <a:rPr lang="en-GB" sz="1600" b="1">
                <a:latin typeface="Montserrat" panose="00000500000000000000" pitchFamily="2" charset="0"/>
              </a:rPr>
              <a:t>Note: If you need to create a custom issue type then you can do this by going into Project Settings &gt; Issue Types</a:t>
            </a:r>
          </a:p>
          <a:p>
            <a:endParaRPr lang="en-GB" sz="1400" i="0">
              <a:effectLst/>
              <a:latin typeface="Montserrat" panose="00000500000000000000" pitchFamily="2" charset="0"/>
            </a:endParaRPr>
          </a:p>
        </p:txBody>
      </p:sp>
      <p:pic>
        <p:nvPicPr>
          <p:cNvPr id="6" name="Picture 5" descr="A close-up of a computer screen&#10;&#10;Description automatically generated">
            <a:extLst>
              <a:ext uri="{FF2B5EF4-FFF2-40B4-BE49-F238E27FC236}">
                <a16:creationId xmlns:a16="http://schemas.microsoft.com/office/drawing/2014/main" id="{EB5DE125-129B-94D8-E4FF-FC9864167BB2}"/>
              </a:ext>
            </a:extLst>
          </p:cNvPr>
          <p:cNvPicPr>
            <a:picLocks noChangeAspect="1"/>
          </p:cNvPicPr>
          <p:nvPr/>
        </p:nvPicPr>
        <p:blipFill>
          <a:blip r:embed="rId4"/>
          <a:stretch>
            <a:fillRect/>
          </a:stretch>
        </p:blipFill>
        <p:spPr>
          <a:xfrm>
            <a:off x="0" y="2283209"/>
            <a:ext cx="12192000" cy="1654245"/>
          </a:xfrm>
          <a:prstGeom prst="rect">
            <a:avLst/>
          </a:prstGeom>
        </p:spPr>
      </p:pic>
    </p:spTree>
    <p:extLst>
      <p:ext uri="{BB962C8B-B14F-4D97-AF65-F5344CB8AC3E}">
        <p14:creationId xmlns:p14="http://schemas.microsoft.com/office/powerpoint/2010/main" val="316514373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Adding to the Product Backlog</a:t>
            </a:r>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endParaRPr lang="en-GB" sz="1600">
              <a:effectLst/>
              <a:latin typeface="Montserrat" panose="00000500000000000000" pitchFamily="2" charset="0"/>
            </a:endParaRPr>
          </a:p>
          <a:p>
            <a:r>
              <a:rPr lang="en-GB" sz="1600">
                <a:effectLst/>
                <a:latin typeface="Montserrat" panose="00000500000000000000" pitchFamily="2" charset="0"/>
              </a:rPr>
              <a:t>Ensure that the green option for </a:t>
            </a:r>
            <a:r>
              <a:rPr lang="en-GB" sz="1600" b="1">
                <a:effectLst/>
                <a:latin typeface="Montserrat" panose="00000500000000000000" pitchFamily="2" charset="0"/>
              </a:rPr>
              <a:t>story</a:t>
            </a:r>
            <a:r>
              <a:rPr lang="en-GB" sz="1600">
                <a:effectLst/>
                <a:latin typeface="Montserrat" panose="00000500000000000000" pitchFamily="2" charset="0"/>
              </a:rPr>
              <a:t> is selected (it should default to this option).</a:t>
            </a:r>
          </a:p>
          <a:p>
            <a:endParaRPr lang="en-GB" sz="1600">
              <a:effectLst/>
              <a:latin typeface="Montserrat" panose="00000500000000000000" pitchFamily="2" charset="0"/>
            </a:endParaRPr>
          </a:p>
          <a:p>
            <a:r>
              <a:rPr lang="en-GB" sz="1600">
                <a:effectLst/>
                <a:latin typeface="Montserrat" panose="00000500000000000000" pitchFamily="2" charset="0"/>
              </a:rPr>
              <a:t>In the text box that reads "What needs to be done?", enter a user story and submit with the enter key.</a:t>
            </a: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400" i="0">
              <a:effectLst/>
              <a:latin typeface="Montserrat" panose="00000500000000000000" pitchFamily="2" charset="0"/>
            </a:endParaRPr>
          </a:p>
        </p:txBody>
      </p:sp>
      <p:pic>
        <p:nvPicPr>
          <p:cNvPr id="5" name="Picture 4" descr="A screenshot of a computer screen&#10;&#10;Description automatically generated">
            <a:extLst>
              <a:ext uri="{FF2B5EF4-FFF2-40B4-BE49-F238E27FC236}">
                <a16:creationId xmlns:a16="http://schemas.microsoft.com/office/drawing/2014/main" id="{80519812-BFB2-F14E-560D-6074402C2DC6}"/>
              </a:ext>
            </a:extLst>
          </p:cNvPr>
          <p:cNvPicPr>
            <a:picLocks noChangeAspect="1"/>
          </p:cNvPicPr>
          <p:nvPr/>
        </p:nvPicPr>
        <p:blipFill>
          <a:blip r:embed="rId4"/>
          <a:stretch>
            <a:fillRect/>
          </a:stretch>
        </p:blipFill>
        <p:spPr>
          <a:xfrm>
            <a:off x="1532314" y="2679187"/>
            <a:ext cx="8590476" cy="3161905"/>
          </a:xfrm>
          <a:prstGeom prst="rect">
            <a:avLst/>
          </a:prstGeom>
        </p:spPr>
      </p:pic>
    </p:spTree>
    <p:extLst>
      <p:ext uri="{BB962C8B-B14F-4D97-AF65-F5344CB8AC3E}">
        <p14:creationId xmlns:p14="http://schemas.microsoft.com/office/powerpoint/2010/main" val="249817226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Adding to the Product Backlog</a:t>
            </a:r>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endParaRPr lang="en-GB" sz="1600">
              <a:effectLst/>
              <a:latin typeface="Montserrat" panose="00000500000000000000" pitchFamily="2" charset="0"/>
            </a:endParaRPr>
          </a:p>
          <a:p>
            <a:r>
              <a:rPr lang="en-GB" sz="1600">
                <a:effectLst/>
                <a:latin typeface="Montserrat" panose="00000500000000000000" pitchFamily="2" charset="0"/>
              </a:rPr>
              <a:t>We can then click the story we just created and add more context to it, such as a description of the user story, its stage in the workflow (to do, doing, done), linked issues, story points, assignee, and much more:</a:t>
            </a:r>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400" i="0">
              <a:effectLst/>
              <a:latin typeface="Montserrat" panose="00000500000000000000" pitchFamily="2" charset="0"/>
            </a:endParaRPr>
          </a:p>
        </p:txBody>
      </p:sp>
      <p:pic>
        <p:nvPicPr>
          <p:cNvPr id="6" name="Picture 5" descr="A screenshot of a computer&#10;&#10;Description automatically generated">
            <a:extLst>
              <a:ext uri="{FF2B5EF4-FFF2-40B4-BE49-F238E27FC236}">
                <a16:creationId xmlns:a16="http://schemas.microsoft.com/office/drawing/2014/main" id="{C9DC711E-4754-195B-1830-364DDDD9C0E5}"/>
              </a:ext>
            </a:extLst>
          </p:cNvPr>
          <p:cNvPicPr>
            <a:picLocks noChangeAspect="1"/>
          </p:cNvPicPr>
          <p:nvPr/>
        </p:nvPicPr>
        <p:blipFill>
          <a:blip r:embed="rId4"/>
          <a:stretch>
            <a:fillRect/>
          </a:stretch>
        </p:blipFill>
        <p:spPr>
          <a:xfrm>
            <a:off x="617090" y="2103812"/>
            <a:ext cx="10736593" cy="4330519"/>
          </a:xfrm>
          <a:prstGeom prst="rect">
            <a:avLst/>
          </a:prstGeom>
        </p:spPr>
      </p:pic>
    </p:spTree>
    <p:extLst>
      <p:ext uri="{BB962C8B-B14F-4D97-AF65-F5344CB8AC3E}">
        <p14:creationId xmlns:p14="http://schemas.microsoft.com/office/powerpoint/2010/main" val="4042666347"/>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0" y="3429000"/>
            <a:ext cx="3807876" cy="578738"/>
          </a:xfrm>
        </p:spPr>
        <p:txBody>
          <a:bodyPr/>
          <a:lstStyle/>
          <a:p>
            <a:r>
              <a:rPr lang="en-US"/>
              <a:t>Creating an Epic</a:t>
            </a:r>
            <a:endParaRPr lang="en-IN"/>
          </a:p>
        </p:txBody>
      </p:sp>
    </p:spTree>
    <p:extLst>
      <p:ext uri="{BB962C8B-B14F-4D97-AF65-F5344CB8AC3E}">
        <p14:creationId xmlns:p14="http://schemas.microsoft.com/office/powerpoint/2010/main" val="576105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84784" y="1349984"/>
            <a:ext cx="3443732" cy="546910"/>
          </a:xfrm>
        </p:spPr>
        <p:txBody>
          <a:bodyPr>
            <a:normAutofit lnSpcReduction="10000"/>
          </a:bodyPr>
          <a:lstStyle/>
          <a:p>
            <a:r>
              <a:rPr lang="en-GB"/>
              <a:t>OVERVIEW</a:t>
            </a:r>
            <a:endParaRPr lang="en-IN"/>
          </a:p>
        </p:txBody>
      </p:sp>
      <p:sp>
        <p:nvSpPr>
          <p:cNvPr id="6" name="Text Placeholder 2">
            <a:extLst>
              <a:ext uri="{FF2B5EF4-FFF2-40B4-BE49-F238E27FC236}">
                <a16:creationId xmlns:a16="http://schemas.microsoft.com/office/drawing/2014/main" id="{98A671E2-B46B-BD21-2799-9A45EB2D6C0B}"/>
              </a:ext>
            </a:extLst>
          </p:cNvPr>
          <p:cNvSpPr>
            <a:spLocks noGrp="1"/>
          </p:cNvSpPr>
          <p:nvPr>
            <p:ph type="body" sz="quarter" idx="15"/>
          </p:nvPr>
        </p:nvSpPr>
        <p:spPr>
          <a:xfrm>
            <a:off x="4594066" y="1452318"/>
            <a:ext cx="7337503" cy="3953363"/>
          </a:xfrm>
        </p:spPr>
        <p:txBody>
          <a:bodyPr vert="horz" lIns="0" tIns="0" rIns="0" bIns="0" rtlCol="0" anchor="t" anchorCtr="0">
            <a:noAutofit/>
          </a:bodyPr>
          <a:lstStyle/>
          <a:p>
            <a:r>
              <a:rPr lang="en-GB"/>
              <a:t>An </a:t>
            </a:r>
            <a:r>
              <a:rPr lang="en-GB" b="1"/>
              <a:t>Epic</a:t>
            </a:r>
            <a:r>
              <a:rPr lang="en-GB"/>
              <a:t> is a large, overarching piece of work that is made up of multiple </a:t>
            </a:r>
            <a:r>
              <a:rPr lang="en-GB" b="1"/>
              <a:t>User Stories</a:t>
            </a:r>
            <a:r>
              <a:rPr lang="en-GB"/>
              <a:t>, which are then comprised of multiple </a:t>
            </a:r>
            <a:r>
              <a:rPr lang="en-GB" b="1"/>
              <a:t>Tasks</a:t>
            </a:r>
            <a:r>
              <a:rPr lang="en-GB"/>
              <a:t>.</a:t>
            </a:r>
          </a:p>
          <a:p>
            <a:endParaRPr lang="en-GB"/>
          </a:p>
          <a:p>
            <a:r>
              <a:rPr lang="en-GB"/>
              <a:t>Jira epics are a great way of joining multiple user stories together. </a:t>
            </a:r>
          </a:p>
          <a:p>
            <a:endParaRPr lang="en-GB"/>
          </a:p>
          <a:p>
            <a:r>
              <a:rPr lang="en-GB">
                <a:latin typeface="Montserrat"/>
              </a:rPr>
              <a:t>In this section, we will walk through the process of creating a Jira epic.</a:t>
            </a:r>
          </a:p>
        </p:txBody>
      </p:sp>
    </p:spTree>
    <p:extLst>
      <p:ext uri="{BB962C8B-B14F-4D97-AF65-F5344CB8AC3E}">
        <p14:creationId xmlns:p14="http://schemas.microsoft.com/office/powerpoint/2010/main" val="3438061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Creating an Epic</a:t>
            </a:r>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endParaRPr lang="en-GB" sz="1600">
              <a:effectLst/>
              <a:latin typeface="Montserrat" panose="00000500000000000000" pitchFamily="2" charset="0"/>
            </a:endParaRPr>
          </a:p>
          <a:p>
            <a:endParaRPr lang="en-GB" sz="1600">
              <a:latin typeface="Montserrat" panose="00000500000000000000" pitchFamily="2" charset="0"/>
            </a:endParaRPr>
          </a:p>
          <a:p>
            <a:r>
              <a:rPr lang="en-GB" sz="1600">
                <a:effectLst/>
                <a:latin typeface="Montserrat" panose="00000500000000000000" pitchFamily="2" charset="0"/>
              </a:rPr>
              <a:t>First, create a few user stories in your backlog:</a:t>
            </a: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400" i="0">
              <a:effectLst/>
              <a:latin typeface="Montserrat" panose="00000500000000000000" pitchFamily="2" charset="0"/>
            </a:endParaRPr>
          </a:p>
        </p:txBody>
      </p:sp>
      <p:pic>
        <p:nvPicPr>
          <p:cNvPr id="5" name="Picture 4" descr="A screenshot of a computer&#10;&#10;Description automatically generated">
            <a:extLst>
              <a:ext uri="{FF2B5EF4-FFF2-40B4-BE49-F238E27FC236}">
                <a16:creationId xmlns:a16="http://schemas.microsoft.com/office/drawing/2014/main" id="{CE68A220-A542-B45D-95A0-51E19EA66A75}"/>
              </a:ext>
            </a:extLst>
          </p:cNvPr>
          <p:cNvPicPr>
            <a:picLocks noChangeAspect="1"/>
          </p:cNvPicPr>
          <p:nvPr/>
        </p:nvPicPr>
        <p:blipFill>
          <a:blip r:embed="rId4"/>
          <a:stretch>
            <a:fillRect/>
          </a:stretch>
        </p:blipFill>
        <p:spPr>
          <a:xfrm>
            <a:off x="88146" y="2456448"/>
            <a:ext cx="12015705" cy="2962011"/>
          </a:xfrm>
          <a:prstGeom prst="rect">
            <a:avLst/>
          </a:prstGeom>
        </p:spPr>
      </p:pic>
    </p:spTree>
    <p:extLst>
      <p:ext uri="{BB962C8B-B14F-4D97-AF65-F5344CB8AC3E}">
        <p14:creationId xmlns:p14="http://schemas.microsoft.com/office/powerpoint/2010/main" val="111429423"/>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Creating an Epic</a:t>
            </a:r>
          </a:p>
        </p:txBody>
      </p:sp>
      <p:sp>
        <p:nvSpPr>
          <p:cNvPr id="3" name="Content Placeholder 2"/>
          <p:cNvSpPr>
            <a:spLocks noGrp="1"/>
          </p:cNvSpPr>
          <p:nvPr>
            <p:ph idx="1"/>
          </p:nvPr>
        </p:nvSpPr>
        <p:spPr>
          <a:xfrm>
            <a:off x="560696" y="1016908"/>
            <a:ext cx="11070607" cy="5841092"/>
          </a:xfrm>
        </p:spPr>
        <p:txBody>
          <a:bodyPr vert="horz" lIns="0" tIns="0" rIns="0" bIns="0" rtlCol="0" anchor="t" anchorCtr="0">
            <a:noAutofit/>
          </a:bodyPr>
          <a:lstStyle/>
          <a:p>
            <a:r>
              <a:rPr lang="en-GB" sz="1600">
                <a:effectLst/>
                <a:latin typeface="Montserrat"/>
              </a:rPr>
              <a:t>At the top of the page, you should see a blue button that says </a:t>
            </a:r>
            <a:r>
              <a:rPr lang="en-GB" sz="1600" b="1">
                <a:effectLst/>
                <a:latin typeface="Montserrat"/>
              </a:rPr>
              <a:t>Create</a:t>
            </a:r>
            <a:r>
              <a:rPr lang="en-GB" sz="1600">
                <a:effectLst/>
                <a:latin typeface="Montserrat"/>
              </a:rPr>
              <a:t>. </a:t>
            </a:r>
            <a:r>
              <a:rPr lang="en-GB" sz="1600">
                <a:latin typeface="Montserrat"/>
              </a:rPr>
              <a:t>Select this</a:t>
            </a:r>
            <a:r>
              <a:rPr lang="en-GB" sz="1600">
                <a:effectLst/>
                <a:latin typeface="Montserrat"/>
              </a:rPr>
              <a:t> to create a new issue in your project. When choosing the issue type, make sure to select </a:t>
            </a:r>
            <a:r>
              <a:rPr lang="en-GB" sz="1600" b="1">
                <a:effectLst/>
                <a:latin typeface="Montserrat"/>
              </a:rPr>
              <a:t>Epic</a:t>
            </a:r>
            <a:r>
              <a:rPr lang="en-GB" sz="1600">
                <a:effectLst/>
                <a:latin typeface="Montserrat"/>
              </a:rPr>
              <a:t>, symbolised by a purple box with a lightning bolt inside.</a:t>
            </a:r>
          </a:p>
          <a:p>
            <a:endParaRPr lang="en-GB" sz="1600">
              <a:effectLst/>
              <a:latin typeface="Montserrat" panose="00000500000000000000" pitchFamily="2" charset="0"/>
            </a:endParaRPr>
          </a:p>
          <a:p>
            <a:r>
              <a:rPr lang="en-GB" sz="1600">
                <a:effectLst/>
                <a:latin typeface="Montserrat" panose="00000500000000000000" pitchFamily="2" charset="0"/>
              </a:rPr>
              <a:t>Fill out the details for the epic you want to create:</a:t>
            </a: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400" i="0">
              <a:effectLst/>
              <a:latin typeface="Montserrat" panose="00000500000000000000" pitchFamily="2" charset="0"/>
            </a:endParaRPr>
          </a:p>
        </p:txBody>
      </p:sp>
      <p:pic>
        <p:nvPicPr>
          <p:cNvPr id="6" name="Picture 5" descr="A screenshot of a computer&#10;&#10;Description automatically generated">
            <a:extLst>
              <a:ext uri="{FF2B5EF4-FFF2-40B4-BE49-F238E27FC236}">
                <a16:creationId xmlns:a16="http://schemas.microsoft.com/office/drawing/2014/main" id="{8245A24B-7561-76B3-899E-B49033C08932}"/>
              </a:ext>
            </a:extLst>
          </p:cNvPr>
          <p:cNvPicPr>
            <a:picLocks noChangeAspect="1"/>
          </p:cNvPicPr>
          <p:nvPr/>
        </p:nvPicPr>
        <p:blipFill>
          <a:blip r:embed="rId4"/>
          <a:stretch>
            <a:fillRect/>
          </a:stretch>
        </p:blipFill>
        <p:spPr>
          <a:xfrm>
            <a:off x="560696" y="2623291"/>
            <a:ext cx="5915025" cy="3895725"/>
          </a:xfrm>
          <a:prstGeom prst="rect">
            <a:avLst/>
          </a:prstGeom>
        </p:spPr>
      </p:pic>
      <p:sp>
        <p:nvSpPr>
          <p:cNvPr id="7" name="Rectangle: Rounded Corners 6">
            <a:extLst>
              <a:ext uri="{FF2B5EF4-FFF2-40B4-BE49-F238E27FC236}">
                <a16:creationId xmlns:a16="http://schemas.microsoft.com/office/drawing/2014/main" id="{0C8F7DB6-A94A-9857-92D2-4F7EA0B32FF8}"/>
              </a:ext>
            </a:extLst>
          </p:cNvPr>
          <p:cNvSpPr/>
          <p:nvPr/>
        </p:nvSpPr>
        <p:spPr>
          <a:xfrm>
            <a:off x="6930657" y="3264697"/>
            <a:ext cx="4852291" cy="2612911"/>
          </a:xfrm>
          <a:prstGeom prst="round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Note: you can add as much or as little detail as you want to your epic; of course, the more information, the better!</a:t>
            </a:r>
          </a:p>
          <a:p>
            <a:pPr algn="ctr"/>
            <a:endParaRPr lang="en-GB"/>
          </a:p>
          <a:p>
            <a:pPr algn="ctr"/>
            <a:r>
              <a:rPr lang="en-GB"/>
              <a:t>This will create an empty epic, which you can subsequently add issues to, such as the user stories you created!</a:t>
            </a:r>
          </a:p>
        </p:txBody>
      </p:sp>
    </p:spTree>
    <p:extLst>
      <p:ext uri="{BB962C8B-B14F-4D97-AF65-F5344CB8AC3E}">
        <p14:creationId xmlns:p14="http://schemas.microsoft.com/office/powerpoint/2010/main" val="4292891032"/>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Creating an Epic</a:t>
            </a:r>
          </a:p>
        </p:txBody>
      </p:sp>
      <p:sp>
        <p:nvSpPr>
          <p:cNvPr id="3" name="Content Placeholder 2"/>
          <p:cNvSpPr>
            <a:spLocks noGrp="1"/>
          </p:cNvSpPr>
          <p:nvPr>
            <p:ph idx="1"/>
          </p:nvPr>
        </p:nvSpPr>
        <p:spPr>
          <a:xfrm>
            <a:off x="560696" y="1386024"/>
            <a:ext cx="11070607" cy="4435936"/>
          </a:xfrm>
        </p:spPr>
        <p:txBody>
          <a:bodyPr vert="horz" lIns="0" tIns="0" rIns="0" bIns="0" rtlCol="0" anchor="t" anchorCtr="0">
            <a:noAutofit/>
          </a:bodyPr>
          <a:lstStyle/>
          <a:p>
            <a:endParaRPr lang="en-GB" sz="1600">
              <a:effectLst/>
              <a:latin typeface="Montserrat" panose="00000500000000000000" pitchFamily="2" charset="0"/>
            </a:endParaRPr>
          </a:p>
          <a:p>
            <a:r>
              <a:rPr lang="en-GB" sz="1600">
                <a:effectLst/>
                <a:latin typeface="Montserrat" panose="00000500000000000000" pitchFamily="2" charset="0"/>
              </a:rPr>
              <a:t>To add issues to an epic, select an issue. Just above the name/text, you should see an option to Add epic, with a grey pencil. Selecting this will allow you to add this story to an epic!</a:t>
            </a: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endParaRPr lang="en-GB" sz="1600">
              <a:effectLst/>
              <a:latin typeface="Montserrat" panose="00000500000000000000" pitchFamily="2" charset="0"/>
            </a:endParaRPr>
          </a:p>
          <a:p>
            <a:endParaRPr lang="en-GB" sz="1600">
              <a:effectLst/>
              <a:latin typeface="Montserrat" panose="00000500000000000000" pitchFamily="2" charset="0"/>
            </a:endParaRPr>
          </a:p>
          <a:p>
            <a:endParaRPr lang="en-GB" sz="1600">
              <a:latin typeface="Montserrat" panose="00000500000000000000" pitchFamily="2" charset="0"/>
            </a:endParaRPr>
          </a:p>
          <a:p>
            <a:r>
              <a:rPr lang="en-GB" sz="1600">
                <a:effectLst/>
                <a:latin typeface="Montserrat" panose="00000500000000000000" pitchFamily="2" charset="0"/>
              </a:rPr>
              <a:t>Note: Older versions of Jira may require different ways to link to an epic. This can still typically be done through the issue itself.</a:t>
            </a:r>
          </a:p>
          <a:p>
            <a:endParaRPr lang="en-GB" sz="1400" i="0">
              <a:effectLst/>
              <a:latin typeface="Montserrat" panose="00000500000000000000" pitchFamily="2" charset="0"/>
            </a:endParaRPr>
          </a:p>
        </p:txBody>
      </p:sp>
      <p:pic>
        <p:nvPicPr>
          <p:cNvPr id="6" name="Picture 5" descr="A screenshot of a computer&#10;&#10;Description automatically generated">
            <a:extLst>
              <a:ext uri="{FF2B5EF4-FFF2-40B4-BE49-F238E27FC236}">
                <a16:creationId xmlns:a16="http://schemas.microsoft.com/office/drawing/2014/main" id="{F39E9E22-4A7A-CEF9-F58D-07CBCB1341FF}"/>
              </a:ext>
            </a:extLst>
          </p:cNvPr>
          <p:cNvPicPr>
            <a:picLocks noChangeAspect="1"/>
          </p:cNvPicPr>
          <p:nvPr/>
        </p:nvPicPr>
        <p:blipFill>
          <a:blip r:embed="rId4"/>
          <a:stretch>
            <a:fillRect/>
          </a:stretch>
        </p:blipFill>
        <p:spPr>
          <a:xfrm>
            <a:off x="3729036" y="2703879"/>
            <a:ext cx="4733925" cy="1800225"/>
          </a:xfrm>
          <a:prstGeom prst="rect">
            <a:avLst/>
          </a:prstGeom>
        </p:spPr>
      </p:pic>
    </p:spTree>
    <p:extLst>
      <p:ext uri="{BB962C8B-B14F-4D97-AF65-F5344CB8AC3E}">
        <p14:creationId xmlns:p14="http://schemas.microsoft.com/office/powerpoint/2010/main" val="2378876133"/>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p:txBody>
          <a:bodyPr/>
          <a:lstStyle/>
          <a:p>
            <a:endParaRPr lang="en-IN"/>
          </a:p>
        </p:txBody>
      </p:sp>
      <p:sp>
        <p:nvSpPr>
          <p:cNvPr id="4" name="Title 3"/>
          <p:cNvSpPr>
            <a:spLocks noGrp="1"/>
          </p:cNvSpPr>
          <p:nvPr>
            <p:ph type="ctrTitle"/>
          </p:nvPr>
        </p:nvSpPr>
        <p:spPr>
          <a:xfrm>
            <a:off x="284632" y="3347724"/>
            <a:ext cx="3534471" cy="682670"/>
          </a:xfrm>
        </p:spPr>
        <p:txBody>
          <a:bodyPr/>
          <a:lstStyle/>
          <a:p>
            <a:r>
              <a:rPr lang="en-GB">
                <a:latin typeface="Krana Fat B"/>
              </a:rPr>
              <a:t>Estimation in Jira</a:t>
            </a:r>
            <a:endParaRPr lang="en-IN">
              <a:latin typeface="Krana Fat B"/>
            </a:endParaRPr>
          </a:p>
        </p:txBody>
      </p:sp>
    </p:spTree>
    <p:extLst>
      <p:ext uri="{BB962C8B-B14F-4D97-AF65-F5344CB8AC3E}">
        <p14:creationId xmlns:p14="http://schemas.microsoft.com/office/powerpoint/2010/main" val="2335292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OVERVIEW</a:t>
            </a:r>
            <a:endParaRPr lang="en-IN"/>
          </a:p>
        </p:txBody>
      </p:sp>
      <p:sp>
        <p:nvSpPr>
          <p:cNvPr id="5" name="Text Placeholder 4">
            <a:extLst>
              <a:ext uri="{FF2B5EF4-FFF2-40B4-BE49-F238E27FC236}">
                <a16:creationId xmlns:a16="http://schemas.microsoft.com/office/drawing/2014/main" id="{1F612CC8-25B7-F4F4-315C-3F78885C01A2}"/>
              </a:ext>
            </a:extLst>
          </p:cNvPr>
          <p:cNvSpPr>
            <a:spLocks noGrp="1"/>
          </p:cNvSpPr>
          <p:nvPr>
            <p:ph type="body" sz="quarter" idx="15"/>
          </p:nvPr>
        </p:nvSpPr>
        <p:spPr>
          <a:xfrm>
            <a:off x="4735068" y="931177"/>
            <a:ext cx="7256835" cy="5410900"/>
          </a:xfrm>
        </p:spPr>
        <p:txBody>
          <a:bodyPr vert="horz" lIns="0" tIns="0" rIns="0" bIns="0" rtlCol="0" anchor="t" anchorCtr="0">
            <a:noAutofit/>
          </a:bodyPr>
          <a:lstStyle/>
          <a:p>
            <a:r>
              <a:rPr lang="en-GB">
                <a:latin typeface="Montserrat"/>
              </a:rPr>
              <a:t>Estimation is incredibly</a:t>
            </a:r>
            <a:r>
              <a:rPr lang="en-GB" b="0" i="0">
                <a:effectLst/>
                <a:latin typeface="Montserrat"/>
              </a:rPr>
              <a:t> important to acknowledge in a software project.</a:t>
            </a:r>
            <a:r>
              <a:rPr lang="en-GB">
                <a:latin typeface="Montserrat"/>
              </a:rPr>
              <a:t> </a:t>
            </a:r>
            <a:endParaRPr lang="en-GB" b="0" i="0">
              <a:effectLst/>
              <a:latin typeface="Montserrat" panose="00000500000000000000" pitchFamily="2" charset="0"/>
            </a:endParaRPr>
          </a:p>
          <a:p>
            <a:pPr algn="l"/>
            <a:endParaRPr lang="en-GB">
              <a:latin typeface="Montserrat" panose="00000500000000000000" pitchFamily="2" charset="0"/>
            </a:endParaRPr>
          </a:p>
          <a:p>
            <a:pPr algn="l"/>
            <a:r>
              <a:rPr lang="en-GB" b="0" i="0">
                <a:effectLst/>
                <a:latin typeface="Montserrat" panose="00000500000000000000" pitchFamily="2" charset="0"/>
              </a:rPr>
              <a:t>With experience of related work, teams can make informed decisions on what work to take on in a sprint, and whether a task needs to be broken down further.</a:t>
            </a:r>
          </a:p>
          <a:p>
            <a:pPr algn="l"/>
            <a:endParaRPr lang="en-GB" b="0" i="0">
              <a:effectLst/>
              <a:latin typeface="Montserrat" panose="00000500000000000000" pitchFamily="2" charset="0"/>
            </a:endParaRPr>
          </a:p>
          <a:p>
            <a:r>
              <a:rPr lang="en-GB">
                <a:latin typeface="Montserrat"/>
              </a:rPr>
              <a:t>Estimation</a:t>
            </a:r>
            <a:r>
              <a:rPr lang="en-GB" b="0" i="0">
                <a:effectLst/>
                <a:latin typeface="Montserrat"/>
              </a:rPr>
              <a:t> </a:t>
            </a:r>
            <a:r>
              <a:rPr lang="en-GB">
                <a:latin typeface="Montserrat"/>
              </a:rPr>
              <a:t>is typically</a:t>
            </a:r>
            <a:r>
              <a:rPr lang="en-GB" b="0" i="0">
                <a:effectLst/>
                <a:latin typeface="Montserrat"/>
              </a:rPr>
              <a:t> metricised as </a:t>
            </a:r>
            <a:r>
              <a:rPr lang="en-GB" b="1" i="0">
                <a:effectLst/>
                <a:latin typeface="Montserrat"/>
              </a:rPr>
              <a:t>Story Points</a:t>
            </a:r>
            <a:r>
              <a:rPr lang="en-GB" b="0" i="0">
                <a:effectLst/>
                <a:latin typeface="Montserrat"/>
              </a:rPr>
              <a:t>.</a:t>
            </a:r>
          </a:p>
          <a:p>
            <a:pPr algn="l"/>
            <a:endParaRPr lang="en-GB" b="0" i="0">
              <a:effectLst/>
              <a:latin typeface="Montserrat" panose="00000500000000000000" pitchFamily="2" charset="0"/>
            </a:endParaRPr>
          </a:p>
          <a:p>
            <a:pPr algn="l"/>
            <a:r>
              <a:rPr lang="en-GB" b="0" i="0">
                <a:effectLst/>
                <a:latin typeface="Montserrat" panose="00000500000000000000" pitchFamily="2" charset="0"/>
              </a:rPr>
              <a:t>These story points can then support the generation of burndown and burnup charts to be generated in Jira - a tool used by project managers quite often.</a:t>
            </a:r>
          </a:p>
          <a:p>
            <a:pPr algn="l"/>
            <a:endParaRPr lang="en-GB">
              <a:latin typeface="Montserrat" panose="00000500000000000000" pitchFamily="2" charset="0"/>
            </a:endParaRPr>
          </a:p>
          <a:p>
            <a:r>
              <a:rPr lang="en-GB" b="0" i="0">
                <a:effectLst/>
                <a:latin typeface="Montserrat"/>
              </a:rPr>
              <a:t>This </a:t>
            </a:r>
            <a:r>
              <a:rPr lang="en-GB">
                <a:latin typeface="Montserrat"/>
              </a:rPr>
              <a:t>section discusses</a:t>
            </a:r>
            <a:r>
              <a:rPr lang="en-GB" b="0" i="0">
                <a:effectLst/>
                <a:latin typeface="Montserrat"/>
              </a:rPr>
              <a:t> how you can apply </a:t>
            </a:r>
            <a:r>
              <a:rPr lang="en-GB">
                <a:latin typeface="Montserrat"/>
              </a:rPr>
              <a:t>estimation</a:t>
            </a:r>
            <a:r>
              <a:rPr lang="en-GB" b="0" i="0">
                <a:effectLst/>
                <a:latin typeface="Montserrat"/>
              </a:rPr>
              <a:t> in Jira.</a:t>
            </a:r>
            <a:endParaRPr lang="en-IN" b="1">
              <a:latin typeface="Montserrat"/>
            </a:endParaRPr>
          </a:p>
          <a:p>
            <a:pPr algn="l"/>
            <a:endParaRPr lang="en-IN" b="1"/>
          </a:p>
        </p:txBody>
      </p:sp>
    </p:spTree>
    <p:extLst>
      <p:ext uri="{BB962C8B-B14F-4D97-AF65-F5344CB8AC3E}">
        <p14:creationId xmlns:p14="http://schemas.microsoft.com/office/powerpoint/2010/main" val="347827669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latin typeface="Krana Fat B"/>
              </a:rPr>
              <a:t>Estimation in Jira</a:t>
            </a:r>
          </a:p>
        </p:txBody>
      </p:sp>
      <p:sp>
        <p:nvSpPr>
          <p:cNvPr id="3" name="Content Placeholder 2"/>
          <p:cNvSpPr>
            <a:spLocks noGrp="1"/>
          </p:cNvSpPr>
          <p:nvPr>
            <p:ph idx="1"/>
          </p:nvPr>
        </p:nvSpPr>
        <p:spPr>
          <a:xfrm>
            <a:off x="560696" y="1143985"/>
            <a:ext cx="11070607" cy="5273593"/>
          </a:xfrm>
        </p:spPr>
        <p:txBody>
          <a:bodyPr vert="horz" lIns="0" tIns="0" rIns="0" bIns="0" rtlCol="0" anchor="t" anchorCtr="0">
            <a:noAutofit/>
          </a:bodyPr>
          <a:lstStyle/>
          <a:p>
            <a:r>
              <a:rPr lang="en-GB" sz="1600">
                <a:effectLst/>
                <a:latin typeface="Montserrat" panose="00000500000000000000" pitchFamily="2" charset="0"/>
              </a:rPr>
              <a:t>To record </a:t>
            </a:r>
            <a:r>
              <a:rPr lang="en-GB" sz="1600" b="1">
                <a:effectLst/>
                <a:latin typeface="Montserrat" panose="00000500000000000000" pitchFamily="2" charset="0"/>
              </a:rPr>
              <a:t>Story Points </a:t>
            </a:r>
            <a:r>
              <a:rPr lang="en-GB" sz="1600">
                <a:effectLst/>
                <a:latin typeface="Montserrat" panose="00000500000000000000" pitchFamily="2" charset="0"/>
              </a:rPr>
              <a:t>in Jira, select a given issue, then scroll down to "Story Points" - from here, you can assign an estimated story point:</a:t>
            </a:r>
            <a:endParaRPr lang="en-GB" sz="1400" i="0">
              <a:effectLst/>
              <a:latin typeface="Montserrat" panose="00000500000000000000" pitchFamily="2" charset="0"/>
            </a:endParaRPr>
          </a:p>
        </p:txBody>
      </p:sp>
      <p:pic>
        <p:nvPicPr>
          <p:cNvPr id="5" name="Picture 4" descr="A screenshot of a to do list&#10;&#10;Description automatically generated">
            <a:extLst>
              <a:ext uri="{FF2B5EF4-FFF2-40B4-BE49-F238E27FC236}">
                <a16:creationId xmlns:a16="http://schemas.microsoft.com/office/drawing/2014/main" id="{1856C968-D36B-FF43-9D85-6FD2F7FCD7DD}"/>
              </a:ext>
            </a:extLst>
          </p:cNvPr>
          <p:cNvPicPr>
            <a:picLocks noChangeAspect="1"/>
          </p:cNvPicPr>
          <p:nvPr/>
        </p:nvPicPr>
        <p:blipFill>
          <a:blip r:embed="rId4"/>
          <a:stretch>
            <a:fillRect/>
          </a:stretch>
        </p:blipFill>
        <p:spPr>
          <a:xfrm>
            <a:off x="4621213" y="1430323"/>
            <a:ext cx="5399735" cy="4987255"/>
          </a:xfrm>
          <a:prstGeom prst="rect">
            <a:avLst/>
          </a:prstGeom>
        </p:spPr>
      </p:pic>
      <p:sp>
        <p:nvSpPr>
          <p:cNvPr id="7" name="Arrow: Left 6">
            <a:extLst>
              <a:ext uri="{FF2B5EF4-FFF2-40B4-BE49-F238E27FC236}">
                <a16:creationId xmlns:a16="http://schemas.microsoft.com/office/drawing/2014/main" id="{D1ED8A69-C316-FEE0-BA4E-46A904966668}"/>
              </a:ext>
            </a:extLst>
          </p:cNvPr>
          <p:cNvSpPr/>
          <p:nvPr/>
        </p:nvSpPr>
        <p:spPr>
          <a:xfrm>
            <a:off x="9057997" y="5805182"/>
            <a:ext cx="1367405" cy="520117"/>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6391CF44-070B-20DB-E1CC-DC204D120DA7}"/>
              </a:ext>
            </a:extLst>
          </p:cNvPr>
          <p:cNvSpPr/>
          <p:nvPr/>
        </p:nvSpPr>
        <p:spPr>
          <a:xfrm>
            <a:off x="823652" y="2189527"/>
            <a:ext cx="3797561" cy="4144161"/>
          </a:xfrm>
          <a:prstGeom prst="round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Jira also allows for Comments and Time tracking. </a:t>
            </a:r>
          </a:p>
          <a:p>
            <a:pPr algn="ctr"/>
            <a:endParaRPr lang="en-GB"/>
          </a:p>
          <a:p>
            <a:pPr algn="ctr"/>
            <a:r>
              <a:rPr lang="en-GB"/>
              <a:t>As work is picked up and worked on, the effort to complete that task can be added into the Jira system.</a:t>
            </a:r>
          </a:p>
          <a:p>
            <a:pPr algn="ctr"/>
            <a:endParaRPr lang="en-GB"/>
          </a:p>
          <a:p>
            <a:pPr algn="ctr"/>
            <a:r>
              <a:rPr lang="en-GB"/>
              <a:t> These metrics can then be used later to summarise time spent doing certain tasks.</a:t>
            </a:r>
          </a:p>
        </p:txBody>
      </p:sp>
    </p:spTree>
    <p:extLst>
      <p:ext uri="{BB962C8B-B14F-4D97-AF65-F5344CB8AC3E}">
        <p14:creationId xmlns:p14="http://schemas.microsoft.com/office/powerpoint/2010/main" val="180234118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0" y="3429000"/>
            <a:ext cx="3807876" cy="578738"/>
          </a:xfrm>
        </p:spPr>
        <p:txBody>
          <a:bodyPr/>
          <a:lstStyle/>
          <a:p>
            <a:r>
              <a:rPr lang="en-US"/>
              <a:t>Linking Issues</a:t>
            </a:r>
            <a:endParaRPr lang="en-IN"/>
          </a:p>
        </p:txBody>
      </p:sp>
    </p:spTree>
    <p:extLst>
      <p:ext uri="{BB962C8B-B14F-4D97-AF65-F5344CB8AC3E}">
        <p14:creationId xmlns:p14="http://schemas.microsoft.com/office/powerpoint/2010/main" val="2579326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84784" y="1349984"/>
            <a:ext cx="3443732" cy="546910"/>
          </a:xfrm>
        </p:spPr>
        <p:txBody>
          <a:bodyPr>
            <a:normAutofit lnSpcReduction="10000"/>
          </a:bodyPr>
          <a:lstStyle/>
          <a:p>
            <a:r>
              <a:rPr lang="en-GB"/>
              <a:t>OVERVIEW</a:t>
            </a:r>
            <a:endParaRPr lang="en-IN"/>
          </a:p>
        </p:txBody>
      </p:sp>
      <p:sp>
        <p:nvSpPr>
          <p:cNvPr id="6" name="Text Placeholder 2">
            <a:extLst>
              <a:ext uri="{FF2B5EF4-FFF2-40B4-BE49-F238E27FC236}">
                <a16:creationId xmlns:a16="http://schemas.microsoft.com/office/drawing/2014/main" id="{98A671E2-B46B-BD21-2799-9A45EB2D6C0B}"/>
              </a:ext>
            </a:extLst>
          </p:cNvPr>
          <p:cNvSpPr>
            <a:spLocks noGrp="1"/>
          </p:cNvSpPr>
          <p:nvPr>
            <p:ph type="body" sz="quarter" idx="15"/>
          </p:nvPr>
        </p:nvSpPr>
        <p:spPr>
          <a:xfrm>
            <a:off x="4694734" y="739254"/>
            <a:ext cx="7337503" cy="5745436"/>
          </a:xfrm>
        </p:spPr>
        <p:txBody>
          <a:bodyPr vert="horz" lIns="0" tIns="0" rIns="0" bIns="0" rtlCol="0" anchor="t" anchorCtr="0">
            <a:noAutofit/>
          </a:bodyPr>
          <a:lstStyle/>
          <a:p>
            <a:r>
              <a:rPr lang="en-GB"/>
              <a:t>Issues can (and will) relate and depend on each other.</a:t>
            </a:r>
          </a:p>
          <a:p>
            <a:endParaRPr lang="en-GB"/>
          </a:p>
          <a:p>
            <a:r>
              <a:rPr lang="en-GB"/>
              <a:t>Jira allows a user to link issues together, allowing for an easy way to see how items are related, which items are acting as blockers, and more.</a:t>
            </a:r>
          </a:p>
          <a:p>
            <a:endParaRPr lang="en-GB"/>
          </a:p>
          <a:p>
            <a:r>
              <a:rPr lang="en-GB"/>
              <a:t>These are the 4 default issue links in Jira:</a:t>
            </a:r>
          </a:p>
          <a:p>
            <a:endParaRPr lang="en-GB"/>
          </a:p>
          <a:p>
            <a:pPr marL="522605" lvl="1" indent="-342900"/>
            <a:r>
              <a:rPr lang="en-GB"/>
              <a:t>relates to / relates to</a:t>
            </a:r>
          </a:p>
          <a:p>
            <a:pPr marL="522605" lvl="1" indent="-342900"/>
            <a:r>
              <a:rPr lang="en-GB"/>
              <a:t>duplicates / is duplicated by</a:t>
            </a:r>
          </a:p>
          <a:p>
            <a:pPr marL="522605" lvl="1" indent="-342900"/>
            <a:r>
              <a:rPr lang="en-GB"/>
              <a:t>blocks / is blocked by</a:t>
            </a:r>
          </a:p>
          <a:p>
            <a:pPr marL="522605" lvl="1" indent="-342900"/>
            <a:r>
              <a:rPr lang="en-GB"/>
              <a:t>clones / is cloned by</a:t>
            </a:r>
          </a:p>
          <a:p>
            <a:pPr marL="179705" lvl="1" indent="0">
              <a:buNone/>
            </a:pPr>
            <a:endParaRPr lang="en-GB"/>
          </a:p>
          <a:p>
            <a:pPr marL="179705" lvl="1" indent="0">
              <a:buNone/>
            </a:pPr>
            <a:r>
              <a:rPr lang="en-GB" b="0" i="0">
                <a:effectLst/>
                <a:latin typeface="Montserrat"/>
              </a:rPr>
              <a:t>This </a:t>
            </a:r>
            <a:r>
              <a:rPr lang="en-GB">
                <a:latin typeface="Montserrat"/>
              </a:rPr>
              <a:t>section discusses</a:t>
            </a:r>
            <a:r>
              <a:rPr lang="en-GB" b="0" i="0">
                <a:effectLst/>
                <a:latin typeface="Montserrat"/>
              </a:rPr>
              <a:t> how you can link issues in Jira.</a:t>
            </a:r>
            <a:endParaRPr lang="en-IN" b="1">
              <a:latin typeface="Montserrat"/>
            </a:endParaRPr>
          </a:p>
          <a:p>
            <a:pPr marL="179705" lvl="1" indent="0">
              <a:buNone/>
            </a:pPr>
            <a:endParaRPr lang="en-GB"/>
          </a:p>
        </p:txBody>
      </p:sp>
    </p:spTree>
    <p:extLst>
      <p:ext uri="{BB962C8B-B14F-4D97-AF65-F5344CB8AC3E}">
        <p14:creationId xmlns:p14="http://schemas.microsoft.com/office/powerpoint/2010/main" val="39353993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Creating an Epic</a:t>
            </a:r>
          </a:p>
        </p:txBody>
      </p:sp>
      <p:sp>
        <p:nvSpPr>
          <p:cNvPr id="3" name="Content Placeholder 2"/>
          <p:cNvSpPr>
            <a:spLocks noGrp="1"/>
          </p:cNvSpPr>
          <p:nvPr>
            <p:ph idx="1"/>
          </p:nvPr>
        </p:nvSpPr>
        <p:spPr>
          <a:xfrm>
            <a:off x="560696" y="1143985"/>
            <a:ext cx="11070607" cy="5273593"/>
          </a:xfrm>
        </p:spPr>
        <p:txBody>
          <a:bodyPr vert="horz" lIns="0" tIns="0" rIns="0" bIns="0" rtlCol="0" anchor="t" anchorCtr="0">
            <a:noAutofit/>
          </a:bodyPr>
          <a:lstStyle/>
          <a:p>
            <a:r>
              <a:rPr lang="en-GB" sz="1600">
                <a:effectLst/>
                <a:latin typeface="Montserrat" panose="00000500000000000000" pitchFamily="2" charset="0"/>
              </a:rPr>
              <a:t>To set an issue as "</a:t>
            </a:r>
            <a:r>
              <a:rPr lang="en-GB" sz="1600" b="1">
                <a:effectLst/>
                <a:latin typeface="Montserrat" panose="00000500000000000000" pitchFamily="2" charset="0"/>
              </a:rPr>
              <a:t>is blocked by</a:t>
            </a:r>
            <a:r>
              <a:rPr lang="en-GB" sz="1600">
                <a:effectLst/>
                <a:latin typeface="Montserrat" panose="00000500000000000000" pitchFamily="2" charset="0"/>
              </a:rPr>
              <a:t>" i.e. cannot move on without another issue being completed, select an issue and select the chain icon.</a:t>
            </a:r>
          </a:p>
          <a:p>
            <a:endParaRPr lang="en-GB" sz="1600">
              <a:effectLst/>
              <a:latin typeface="Montserrat" panose="00000500000000000000" pitchFamily="2" charset="0"/>
            </a:endParaRPr>
          </a:p>
          <a:p>
            <a:r>
              <a:rPr lang="en-GB" sz="1600">
                <a:effectLst/>
                <a:latin typeface="Montserrat" panose="00000500000000000000" pitchFamily="2" charset="0"/>
              </a:rPr>
              <a:t>You can then select "</a:t>
            </a:r>
            <a:r>
              <a:rPr lang="en-GB" sz="1600" b="1">
                <a:effectLst/>
                <a:latin typeface="Montserrat" panose="00000500000000000000" pitchFamily="2" charset="0"/>
              </a:rPr>
              <a:t>Link issue</a:t>
            </a:r>
            <a:r>
              <a:rPr lang="en-GB" sz="1600">
                <a:effectLst/>
                <a:latin typeface="Montserrat" panose="00000500000000000000" pitchFamily="2" charset="0"/>
              </a:rPr>
              <a:t>", which will allow you to search for related issues in your project:</a:t>
            </a:r>
          </a:p>
          <a:p>
            <a:endParaRPr lang="en-GB" sz="1600" i="0">
              <a:latin typeface="Montserrat" panose="00000500000000000000" pitchFamily="2" charset="0"/>
            </a:endParaRPr>
          </a:p>
          <a:p>
            <a:endParaRPr lang="en-GB" sz="1600">
              <a:effectLst/>
              <a:latin typeface="Montserrat" panose="00000500000000000000" pitchFamily="2" charset="0"/>
            </a:endParaRPr>
          </a:p>
          <a:p>
            <a:endParaRPr lang="en-GB" sz="1600" i="0">
              <a:latin typeface="Montserrat" panose="00000500000000000000" pitchFamily="2" charset="0"/>
            </a:endParaRPr>
          </a:p>
          <a:p>
            <a:endParaRPr lang="en-GB" sz="1600">
              <a:effectLst/>
              <a:latin typeface="Montserrat" panose="00000500000000000000" pitchFamily="2" charset="0"/>
            </a:endParaRPr>
          </a:p>
          <a:p>
            <a:endParaRPr lang="en-GB" sz="1600" i="0">
              <a:latin typeface="Montserrat" panose="00000500000000000000" pitchFamily="2" charset="0"/>
            </a:endParaRPr>
          </a:p>
          <a:p>
            <a:endParaRPr lang="en-GB" sz="1600">
              <a:effectLst/>
              <a:latin typeface="Montserrat" panose="00000500000000000000" pitchFamily="2" charset="0"/>
            </a:endParaRPr>
          </a:p>
          <a:p>
            <a:endParaRPr lang="en-GB" sz="1600" i="0">
              <a:latin typeface="Montserrat" panose="00000500000000000000" pitchFamily="2" charset="0"/>
            </a:endParaRPr>
          </a:p>
          <a:p>
            <a:endParaRPr lang="en-GB" sz="1600">
              <a:effectLst/>
              <a:latin typeface="Montserrat" panose="00000500000000000000" pitchFamily="2" charset="0"/>
            </a:endParaRPr>
          </a:p>
          <a:p>
            <a:endParaRPr lang="en-GB" sz="1600" i="0">
              <a:latin typeface="Montserrat" panose="00000500000000000000" pitchFamily="2" charset="0"/>
            </a:endParaRPr>
          </a:p>
          <a:p>
            <a:endParaRPr lang="en-GB" sz="1600">
              <a:effectLst/>
              <a:latin typeface="Montserrat" panose="00000500000000000000" pitchFamily="2" charset="0"/>
            </a:endParaRPr>
          </a:p>
          <a:p>
            <a:r>
              <a:rPr lang="en-GB" sz="1400" i="0">
                <a:effectLst/>
                <a:latin typeface="Montserrat" panose="00000500000000000000" pitchFamily="2" charset="0"/>
              </a:rPr>
              <a:t>Jira will also update the linked issue with the reverse relationship. For example, if Story 4 is blocked by Story 1, you can navigate to Story 1 and see that it blocks Story 4.</a:t>
            </a:r>
          </a:p>
        </p:txBody>
      </p:sp>
      <p:pic>
        <p:nvPicPr>
          <p:cNvPr id="6" name="Picture 5" descr="A screenshot of a computer&#10;&#10;Description automatically generated">
            <a:extLst>
              <a:ext uri="{FF2B5EF4-FFF2-40B4-BE49-F238E27FC236}">
                <a16:creationId xmlns:a16="http://schemas.microsoft.com/office/drawing/2014/main" id="{F4A6177C-EB87-6F95-868B-4DFBCBB37E3C}"/>
              </a:ext>
            </a:extLst>
          </p:cNvPr>
          <p:cNvPicPr>
            <a:picLocks noChangeAspect="1"/>
          </p:cNvPicPr>
          <p:nvPr/>
        </p:nvPicPr>
        <p:blipFill>
          <a:blip r:embed="rId4"/>
          <a:stretch>
            <a:fillRect/>
          </a:stretch>
        </p:blipFill>
        <p:spPr>
          <a:xfrm>
            <a:off x="1701655" y="2770464"/>
            <a:ext cx="8134350" cy="2743200"/>
          </a:xfrm>
          <a:prstGeom prst="rect">
            <a:avLst/>
          </a:prstGeom>
        </p:spPr>
      </p:pic>
      <p:sp>
        <p:nvSpPr>
          <p:cNvPr id="9" name="Arrow: Left 8">
            <a:extLst>
              <a:ext uri="{FF2B5EF4-FFF2-40B4-BE49-F238E27FC236}">
                <a16:creationId xmlns:a16="http://schemas.microsoft.com/office/drawing/2014/main" id="{3D0FBE54-8DCF-6439-027A-0F5840DB169C}"/>
              </a:ext>
            </a:extLst>
          </p:cNvPr>
          <p:cNvSpPr/>
          <p:nvPr/>
        </p:nvSpPr>
        <p:spPr>
          <a:xfrm>
            <a:off x="4781724" y="3252831"/>
            <a:ext cx="788565" cy="402672"/>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Left 9">
            <a:extLst>
              <a:ext uri="{FF2B5EF4-FFF2-40B4-BE49-F238E27FC236}">
                <a16:creationId xmlns:a16="http://schemas.microsoft.com/office/drawing/2014/main" id="{DF8DF56D-7C46-97F0-4B08-24B1A40A48F4}"/>
              </a:ext>
            </a:extLst>
          </p:cNvPr>
          <p:cNvSpPr/>
          <p:nvPr/>
        </p:nvSpPr>
        <p:spPr>
          <a:xfrm rot="10800000">
            <a:off x="1015066" y="4694689"/>
            <a:ext cx="788565" cy="402672"/>
          </a:xfrm>
          <a:prstGeom prst="lef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4916974"/>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p:txBody>
          <a:bodyPr/>
          <a:lstStyle/>
          <a:p>
            <a:endParaRPr lang="en-IN"/>
          </a:p>
        </p:txBody>
      </p:sp>
      <p:sp>
        <p:nvSpPr>
          <p:cNvPr id="4" name="Title 3"/>
          <p:cNvSpPr>
            <a:spLocks noGrp="1"/>
          </p:cNvSpPr>
          <p:nvPr>
            <p:ph type="ctrTitle"/>
          </p:nvPr>
        </p:nvSpPr>
        <p:spPr>
          <a:xfrm>
            <a:off x="284632" y="3347724"/>
            <a:ext cx="3534471" cy="682670"/>
          </a:xfrm>
        </p:spPr>
        <p:txBody>
          <a:bodyPr/>
          <a:lstStyle/>
          <a:p>
            <a:r>
              <a:rPr lang="en-GB"/>
              <a:t>Starting a Sprint</a:t>
            </a:r>
            <a:endParaRPr lang="en-IN"/>
          </a:p>
        </p:txBody>
      </p:sp>
    </p:spTree>
    <p:extLst>
      <p:ext uri="{BB962C8B-B14F-4D97-AF65-F5344CB8AC3E}">
        <p14:creationId xmlns:p14="http://schemas.microsoft.com/office/powerpoint/2010/main" val="2087844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OVERVIEW</a:t>
            </a:r>
            <a:endParaRPr lang="en-IN"/>
          </a:p>
        </p:txBody>
      </p:sp>
      <p:sp>
        <p:nvSpPr>
          <p:cNvPr id="5" name="Text Placeholder 4">
            <a:extLst>
              <a:ext uri="{FF2B5EF4-FFF2-40B4-BE49-F238E27FC236}">
                <a16:creationId xmlns:a16="http://schemas.microsoft.com/office/drawing/2014/main" id="{1F612CC8-25B7-F4F4-315C-3F78885C01A2}"/>
              </a:ext>
            </a:extLst>
          </p:cNvPr>
          <p:cNvSpPr>
            <a:spLocks noGrp="1"/>
          </p:cNvSpPr>
          <p:nvPr>
            <p:ph type="body" sz="quarter" idx="15"/>
          </p:nvPr>
        </p:nvSpPr>
        <p:spPr>
          <a:xfrm>
            <a:off x="4735068" y="528506"/>
            <a:ext cx="7256835" cy="5897461"/>
          </a:xfrm>
        </p:spPr>
        <p:txBody>
          <a:bodyPr vert="horz" lIns="0" tIns="0" rIns="0" bIns="0" rtlCol="0" anchor="t" anchorCtr="0">
            <a:noAutofit/>
          </a:bodyPr>
          <a:lstStyle/>
          <a:p>
            <a:pPr algn="l"/>
            <a:r>
              <a:rPr lang="en-GB" b="0" i="0">
                <a:effectLst/>
                <a:latin typeface="Montserrat" panose="00000500000000000000" pitchFamily="2" charset="0"/>
              </a:rPr>
              <a:t>Sprints are the primary method of timeboxing work efforts in an Agile Scrum software project. </a:t>
            </a:r>
          </a:p>
          <a:p>
            <a:pPr algn="l"/>
            <a:endParaRPr lang="en-GB">
              <a:latin typeface="Montserrat" panose="00000500000000000000" pitchFamily="2" charset="0"/>
            </a:endParaRPr>
          </a:p>
          <a:p>
            <a:r>
              <a:rPr lang="en-GB">
                <a:latin typeface="Montserrat"/>
              </a:rPr>
              <a:t>A sprint is a fixed time period in a continuous development cycle where teams complete work from their product backlog. </a:t>
            </a:r>
          </a:p>
          <a:p>
            <a:endParaRPr lang="en-GB">
              <a:latin typeface="Montserrat" panose="00000500000000000000" pitchFamily="2" charset="0"/>
            </a:endParaRPr>
          </a:p>
          <a:p>
            <a:pPr algn="l"/>
            <a:r>
              <a:rPr lang="en-GB">
                <a:latin typeface="Montserrat" panose="00000500000000000000" pitchFamily="2" charset="0"/>
              </a:rPr>
              <a:t>At the end of the sprint, a team will typically have built and implemented a working product increment. </a:t>
            </a:r>
          </a:p>
          <a:p>
            <a:pPr algn="l"/>
            <a:endParaRPr lang="en-GB">
              <a:latin typeface="Montserrat" panose="00000500000000000000" pitchFamily="2" charset="0"/>
            </a:endParaRPr>
          </a:p>
          <a:p>
            <a:pPr algn="l"/>
            <a:r>
              <a:rPr lang="en-GB">
                <a:latin typeface="Montserrat" panose="00000500000000000000" pitchFamily="2" charset="0"/>
              </a:rPr>
              <a:t>Jira Software makes your backlog the centre of your sprint planning meeting, so you can estimate stories, adjust sprint scope, check velocity, and re-prioritise issues in real-time.</a:t>
            </a:r>
          </a:p>
          <a:p>
            <a:pPr algn="l"/>
            <a:endParaRPr lang="en-GB">
              <a:latin typeface="Montserrat" panose="00000500000000000000" pitchFamily="2" charset="0"/>
            </a:endParaRPr>
          </a:p>
          <a:p>
            <a:r>
              <a:rPr lang="en-GB" b="0" i="0">
                <a:effectLst/>
                <a:latin typeface="Montserrat"/>
              </a:rPr>
              <a:t>This </a:t>
            </a:r>
            <a:r>
              <a:rPr lang="en-GB">
                <a:latin typeface="Montserrat"/>
              </a:rPr>
              <a:t>section discusses</a:t>
            </a:r>
            <a:r>
              <a:rPr lang="en-GB" b="0" i="0">
                <a:effectLst/>
                <a:latin typeface="Montserrat"/>
              </a:rPr>
              <a:t> how you can create a new sprint in Jira.</a:t>
            </a:r>
            <a:endParaRPr lang="en-IN" b="1">
              <a:latin typeface="Montserrat"/>
            </a:endParaRPr>
          </a:p>
        </p:txBody>
      </p:sp>
    </p:spTree>
    <p:extLst>
      <p:ext uri="{BB962C8B-B14F-4D97-AF65-F5344CB8AC3E}">
        <p14:creationId xmlns:p14="http://schemas.microsoft.com/office/powerpoint/2010/main" val="111214942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Starting a Sprint</a:t>
            </a:r>
          </a:p>
        </p:txBody>
      </p:sp>
      <p:sp>
        <p:nvSpPr>
          <p:cNvPr id="3" name="Content Placeholder 2"/>
          <p:cNvSpPr>
            <a:spLocks noGrp="1"/>
          </p:cNvSpPr>
          <p:nvPr>
            <p:ph idx="1"/>
          </p:nvPr>
        </p:nvSpPr>
        <p:spPr>
          <a:xfrm>
            <a:off x="560696" y="1417738"/>
            <a:ext cx="11070607" cy="4999839"/>
          </a:xfrm>
        </p:spPr>
        <p:txBody>
          <a:bodyPr vert="horz" lIns="0" tIns="0" rIns="0" bIns="0" rtlCol="0" anchor="t" anchorCtr="0">
            <a:noAutofit/>
          </a:bodyPr>
          <a:lstStyle/>
          <a:p>
            <a:r>
              <a:rPr lang="en-GB" sz="1600">
                <a:effectLst/>
                <a:latin typeface="Montserrat" panose="00000500000000000000" pitchFamily="2" charset="0"/>
              </a:rPr>
              <a:t>To start a sprint in Jira, go to your Backlog.</a:t>
            </a:r>
          </a:p>
          <a:p>
            <a:endParaRPr lang="en-GB" sz="1600">
              <a:effectLst/>
              <a:latin typeface="Montserrat" panose="00000500000000000000" pitchFamily="2" charset="0"/>
            </a:endParaRPr>
          </a:p>
          <a:p>
            <a:r>
              <a:rPr lang="en-GB" sz="1600">
                <a:effectLst/>
                <a:latin typeface="Montserrat" panose="00000500000000000000" pitchFamily="2" charset="0"/>
              </a:rPr>
              <a:t>Dragging issues into the large grey box will add items from your backlog into a sprint - this should have a name similar to </a:t>
            </a:r>
            <a:r>
              <a:rPr lang="en-GB" sz="1600" b="1">
                <a:effectLst/>
                <a:latin typeface="Montserrat" panose="00000500000000000000" pitchFamily="2" charset="0"/>
              </a:rPr>
              <a:t>&lt;Key Name&gt; Sprint 1</a:t>
            </a:r>
            <a:r>
              <a:rPr lang="en-GB" sz="1600">
                <a:effectLst/>
                <a:latin typeface="Montserrat" panose="00000500000000000000" pitchFamily="2" charset="0"/>
              </a:rPr>
              <a:t>.</a:t>
            </a:r>
          </a:p>
          <a:p>
            <a:endParaRPr lang="en-GB" sz="1600">
              <a:effectLst/>
              <a:latin typeface="Montserrat" panose="00000500000000000000" pitchFamily="2" charset="0"/>
            </a:endParaRPr>
          </a:p>
          <a:p>
            <a:r>
              <a:rPr lang="en-GB" sz="1600">
                <a:effectLst/>
                <a:latin typeface="Montserrat" panose="00000500000000000000" pitchFamily="2" charset="0"/>
              </a:rPr>
              <a:t>Click the blue </a:t>
            </a:r>
            <a:r>
              <a:rPr lang="en-GB" sz="1600" b="1">
                <a:effectLst/>
                <a:latin typeface="Montserrat" panose="00000500000000000000" pitchFamily="2" charset="0"/>
              </a:rPr>
              <a:t>Create Sprint </a:t>
            </a:r>
            <a:r>
              <a:rPr lang="en-GB" sz="1600">
                <a:effectLst/>
                <a:latin typeface="Montserrat" panose="00000500000000000000" pitchFamily="2" charset="0"/>
              </a:rPr>
              <a:t>button (some versions of Jira have this as Start Sprint).</a:t>
            </a:r>
            <a:endParaRPr lang="en-GB" sz="1400" i="0">
              <a:effectLst/>
              <a:latin typeface="Montserrat" panose="00000500000000000000" pitchFamily="2" charset="0"/>
            </a:endParaRPr>
          </a:p>
        </p:txBody>
      </p:sp>
      <p:pic>
        <p:nvPicPr>
          <p:cNvPr id="5" name="Picture 4" descr="A screenshot of a chat&#10;&#10;Description automatically generated">
            <a:extLst>
              <a:ext uri="{FF2B5EF4-FFF2-40B4-BE49-F238E27FC236}">
                <a16:creationId xmlns:a16="http://schemas.microsoft.com/office/drawing/2014/main" id="{FF7AF074-052B-0C91-C0A3-DC3394F860E8}"/>
              </a:ext>
            </a:extLst>
          </p:cNvPr>
          <p:cNvPicPr>
            <a:picLocks noChangeAspect="1"/>
          </p:cNvPicPr>
          <p:nvPr/>
        </p:nvPicPr>
        <p:blipFill>
          <a:blip r:embed="rId4"/>
          <a:stretch>
            <a:fillRect/>
          </a:stretch>
        </p:blipFill>
        <p:spPr>
          <a:xfrm>
            <a:off x="0" y="3604186"/>
            <a:ext cx="12192000" cy="2133883"/>
          </a:xfrm>
          <a:prstGeom prst="rect">
            <a:avLst/>
          </a:prstGeom>
        </p:spPr>
      </p:pic>
    </p:spTree>
    <p:extLst>
      <p:ext uri="{BB962C8B-B14F-4D97-AF65-F5344CB8AC3E}">
        <p14:creationId xmlns:p14="http://schemas.microsoft.com/office/powerpoint/2010/main" val="3583610895"/>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91" y="338984"/>
            <a:ext cx="11517818" cy="805001"/>
          </a:xfrm>
        </p:spPr>
        <p:txBody>
          <a:bodyPr/>
          <a:lstStyle/>
          <a:p>
            <a:r>
              <a:rPr lang="en-GB"/>
              <a:t>Starting a Sprint</a:t>
            </a:r>
          </a:p>
        </p:txBody>
      </p:sp>
      <p:sp>
        <p:nvSpPr>
          <p:cNvPr id="3" name="Content Placeholder 2"/>
          <p:cNvSpPr>
            <a:spLocks noGrp="1"/>
          </p:cNvSpPr>
          <p:nvPr>
            <p:ph idx="1"/>
          </p:nvPr>
        </p:nvSpPr>
        <p:spPr>
          <a:xfrm>
            <a:off x="337091" y="1090570"/>
            <a:ext cx="6174704" cy="5343785"/>
          </a:xfrm>
        </p:spPr>
        <p:txBody>
          <a:bodyPr vert="horz" lIns="0" tIns="0" rIns="0" bIns="0" rtlCol="0" anchor="t" anchorCtr="0">
            <a:noAutofit/>
          </a:bodyPr>
          <a:lstStyle/>
          <a:p>
            <a:r>
              <a:rPr lang="en-GB" sz="1600">
                <a:effectLst/>
                <a:latin typeface="Montserrat" panose="00000500000000000000" pitchFamily="2" charset="0"/>
              </a:rPr>
              <a:t>You can enter basic details of the sprint:</a:t>
            </a:r>
          </a:p>
          <a:p>
            <a:pPr marL="641350" lvl="1" indent="-285750"/>
            <a:r>
              <a:rPr lang="en-GB" sz="1600">
                <a:effectLst/>
                <a:latin typeface="Montserrat" panose="00000500000000000000" pitchFamily="2" charset="0"/>
              </a:rPr>
              <a:t>The name</a:t>
            </a:r>
          </a:p>
          <a:p>
            <a:pPr marL="641350" lvl="1" indent="-285750"/>
            <a:r>
              <a:rPr lang="en-GB" sz="1600">
                <a:effectLst/>
                <a:latin typeface="Montserrat" panose="00000500000000000000" pitchFamily="2" charset="0"/>
              </a:rPr>
              <a:t>Duration (in weeks)</a:t>
            </a:r>
          </a:p>
          <a:p>
            <a:pPr marL="641350" lvl="1" indent="-285750"/>
            <a:r>
              <a:rPr lang="en-GB" sz="1600">
                <a:effectLst/>
                <a:latin typeface="Montserrat" panose="00000500000000000000" pitchFamily="2" charset="0"/>
              </a:rPr>
              <a:t>Sprint start</a:t>
            </a:r>
          </a:p>
          <a:p>
            <a:pPr marL="641350" lvl="1" indent="-285750"/>
            <a:r>
              <a:rPr lang="en-GB" sz="1600">
                <a:effectLst/>
                <a:latin typeface="Montserrat" panose="00000500000000000000" pitchFamily="2" charset="0"/>
              </a:rPr>
              <a:t>Sprint end</a:t>
            </a:r>
          </a:p>
          <a:p>
            <a:pPr lvl="1" indent="0">
              <a:buNone/>
            </a:pPr>
            <a:endParaRPr lang="en-GB" sz="1600">
              <a:effectLst/>
              <a:latin typeface="Montserrat" panose="00000500000000000000" pitchFamily="2" charset="0"/>
            </a:endParaRPr>
          </a:p>
          <a:p>
            <a:r>
              <a:rPr lang="en-GB" sz="1600">
                <a:effectLst/>
                <a:latin typeface="Montserrat" panose="00000500000000000000" pitchFamily="2" charset="0"/>
              </a:rPr>
              <a:t>You can also enter a sprint goal, which will be presented whenever you view the sprint backlog.</a:t>
            </a:r>
          </a:p>
          <a:p>
            <a:endParaRPr lang="en-GB" sz="1600" i="0">
              <a:latin typeface="Montserrat" panose="00000500000000000000" pitchFamily="2" charset="0"/>
            </a:endParaRPr>
          </a:p>
          <a:p>
            <a:r>
              <a:rPr lang="en-GB" sz="1600" i="0">
                <a:effectLst/>
                <a:latin typeface="Montserrat" panose="00000500000000000000" pitchFamily="2" charset="0"/>
              </a:rPr>
              <a:t>A sprint goal is a shared high-level objective that describes the key outcome for each sprint that a Scrum team undertakes. </a:t>
            </a:r>
          </a:p>
          <a:p>
            <a:endParaRPr lang="en-GB" sz="1600">
              <a:latin typeface="Montserrat" panose="00000500000000000000" pitchFamily="2" charset="0"/>
            </a:endParaRPr>
          </a:p>
          <a:p>
            <a:r>
              <a:rPr lang="en-GB" sz="1600" i="0">
                <a:effectLst/>
                <a:latin typeface="Montserrat" panose="00000500000000000000" pitchFamily="2" charset="0"/>
              </a:rPr>
              <a:t>In the same way that a product vision guides the longer-term direction of a product, the sprint goal guides the development team on why it is building the current increment.</a:t>
            </a:r>
          </a:p>
        </p:txBody>
      </p:sp>
      <p:pic>
        <p:nvPicPr>
          <p:cNvPr id="6" name="Picture 5" descr="A screenshot of a computer screen&#10;&#10;Description automatically generated">
            <a:extLst>
              <a:ext uri="{FF2B5EF4-FFF2-40B4-BE49-F238E27FC236}">
                <a16:creationId xmlns:a16="http://schemas.microsoft.com/office/drawing/2014/main" id="{F0DC64FD-E621-69F2-939A-DEA1CA5B52DB}"/>
              </a:ext>
            </a:extLst>
          </p:cNvPr>
          <p:cNvPicPr>
            <a:picLocks noChangeAspect="1"/>
          </p:cNvPicPr>
          <p:nvPr/>
        </p:nvPicPr>
        <p:blipFill rotWithShape="1">
          <a:blip r:embed="rId4"/>
          <a:srcRect l="2790" t="1873" r="1751" b="1182"/>
          <a:stretch/>
        </p:blipFill>
        <p:spPr>
          <a:xfrm>
            <a:off x="6694415" y="1176338"/>
            <a:ext cx="5100506" cy="5311432"/>
          </a:xfrm>
          <a:prstGeom prst="rect">
            <a:avLst/>
          </a:prstGeom>
        </p:spPr>
      </p:pic>
    </p:spTree>
    <p:extLst>
      <p:ext uri="{BB962C8B-B14F-4D97-AF65-F5344CB8AC3E}">
        <p14:creationId xmlns:p14="http://schemas.microsoft.com/office/powerpoint/2010/main" val="10965533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5667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1728</Words>
  <Application>Microsoft Office PowerPoint</Application>
  <PresentationFormat>Widescreen</PresentationFormat>
  <Paragraphs>243</Paragraphs>
  <Slides>27</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Krana Fat B</vt:lpstr>
      <vt:lpstr>Montserrat</vt:lpstr>
      <vt:lpstr>Office Theme</vt:lpstr>
      <vt:lpstr>Using Atlassian Jira</vt:lpstr>
      <vt:lpstr>PowerPoint Presentation</vt:lpstr>
      <vt:lpstr>Atlassian Jira – Getting started</vt:lpstr>
      <vt:lpstr>Atlassian Jira – Getting started</vt:lpstr>
      <vt:lpstr>Atlassian Jira – Getting started</vt:lpstr>
      <vt:lpstr>Atlassian Jira – Getting started</vt:lpstr>
      <vt:lpstr>Adding to the Product Backlog</vt:lpstr>
      <vt:lpstr>PowerPoint Presentation</vt:lpstr>
      <vt:lpstr>Adding to the Product Backlog</vt:lpstr>
      <vt:lpstr>Adding to the Product Backlog</vt:lpstr>
      <vt:lpstr>Adding to the Product Backlog</vt:lpstr>
      <vt:lpstr>Creating an Epic</vt:lpstr>
      <vt:lpstr>PowerPoint Presentation</vt:lpstr>
      <vt:lpstr>Creating an Epic</vt:lpstr>
      <vt:lpstr>Creating an Epic</vt:lpstr>
      <vt:lpstr>Creating an Epic</vt:lpstr>
      <vt:lpstr>Estimation in Jira</vt:lpstr>
      <vt:lpstr>PowerPoint Presentation</vt:lpstr>
      <vt:lpstr>Estimation in Jira</vt:lpstr>
      <vt:lpstr>Linking Issues</vt:lpstr>
      <vt:lpstr>PowerPoint Presentation</vt:lpstr>
      <vt:lpstr>Creating an Epic</vt:lpstr>
      <vt:lpstr>Starting a Sprint</vt:lpstr>
      <vt:lpstr>PowerPoint Presentation</vt:lpstr>
      <vt:lpstr>Starting a Sprint</vt:lpstr>
      <vt:lpstr>Starting a Sprint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Graeme Watson</dc:creator>
  <cp:lastModifiedBy>Graeme Watson</cp:lastModifiedBy>
  <cp:revision>1</cp:revision>
  <dcterms:created xsi:type="dcterms:W3CDTF">2024-11-18T15:00:37Z</dcterms:created>
  <dcterms:modified xsi:type="dcterms:W3CDTF">2024-12-10T09:09:18Z</dcterms:modified>
</cp:coreProperties>
</file>